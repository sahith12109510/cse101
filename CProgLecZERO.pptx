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5" r:id="rId4"/>
    <p:sldId id="258" r:id="rId5"/>
    <p:sldId id="259" r:id="rId6"/>
    <p:sldId id="280" r:id="rId7"/>
    <p:sldId id="261" r:id="rId8"/>
    <p:sldId id="274" r:id="rId9"/>
    <p:sldId id="262" r:id="rId10"/>
    <p:sldId id="263" r:id="rId11"/>
    <p:sldId id="264" r:id="rId12"/>
    <p:sldId id="265" r:id="rId13"/>
    <p:sldId id="273" r:id="rId14"/>
    <p:sldId id="272" r:id="rId15"/>
    <p:sldId id="271" r:id="rId16"/>
    <p:sldId id="267" r:id="rId17"/>
    <p:sldId id="276" r:id="rId18"/>
    <p:sldId id="268" r:id="rId19"/>
    <p:sldId id="277" r:id="rId20"/>
    <p:sldId id="278" r:id="rId21"/>
    <p:sldId id="279" r:id="rId22"/>
    <p:sldId id="269" r:id="rId23"/>
    <p:sldId id="27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CC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>
      <p:cViewPr varScale="1">
        <p:scale>
          <a:sx n="88" d="100"/>
          <a:sy n="88" d="100"/>
        </p:scale>
        <p:origin x="-1541" y="-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88A3-4807-4E26-ADDF-846591B45D26}" type="datetimeFigureOut">
              <a:rPr lang="en-US" smtClean="0"/>
              <a:t>8/20/2021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24AE0-F4C3-433A-9525-E6317BA2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27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4AE0-F4C3-433A-9525-E6317BA219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60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graphicFrame>
        <p:nvGraphicFramePr>
          <p:cNvPr id="1026" name="Object 86"/>
          <p:cNvGraphicFramePr>
            <a:graphicFrameLocks noChangeAspect="1"/>
          </p:cNvGraphicFramePr>
          <p:nvPr/>
        </p:nvGraphicFramePr>
        <p:xfrm>
          <a:off x="7391400" y="85725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85725"/>
                        <a:ext cx="1676400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86644" cy="78579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071546"/>
            <a:ext cx="8858312" cy="5357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77FF9-3AED-4FBA-927B-0E1C29D1512B}" type="datetimeFigureOut">
              <a:rPr lang="en-US" smtClean="0"/>
              <a:pPr/>
              <a:t>8/20/2021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923A38-DFAC-48EE-8299-5225B27F36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 txBox="1">
            <a:spLocks/>
          </p:cNvSpPr>
          <p:nvPr userDrawn="1"/>
        </p:nvSpPr>
        <p:spPr bwMode="auto">
          <a:xfrm>
            <a:off x="0" y="6492875"/>
            <a:ext cx="350043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© LPU :: CSE101 C Programming </a:t>
            </a:r>
            <a:endParaRPr kumimoji="0" lang="en-I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2050" name="Object 86"/>
          <p:cNvGraphicFramePr>
            <a:graphicFrameLocks noChangeAspect="1"/>
          </p:cNvGraphicFramePr>
          <p:nvPr/>
        </p:nvGraphicFramePr>
        <p:xfrm>
          <a:off x="7391400" y="85725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r:id="rId16" imgW="13937020" imgH="5409524" progId="">
                  <p:embed/>
                </p:oleObj>
              </mc:Choice>
              <mc:Fallback>
                <p:oleObj r:id="rId16" imgW="13937020" imgH="5409524" progId="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85725"/>
                        <a:ext cx="1676400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gi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31.png"/><Relationship Id="rId7" Type="http://schemas.openxmlformats.org/officeDocument/2006/relationships/image" Target="../media/image2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13" Type="http://schemas.openxmlformats.org/officeDocument/2006/relationships/image" Target="../media/image35.jpe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jpe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1285860"/>
            <a:ext cx="9144000" cy="168433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Broadway" pitchFamily="82" charset="0"/>
                <a:ea typeface="+mj-ea"/>
                <a:cs typeface="+mj-cs"/>
              </a:rPr>
              <a:t>CSE101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Broadway" pitchFamily="82" charset="0"/>
                <a:ea typeface="+mj-ea"/>
                <a:cs typeface="+mj-cs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Broadway" pitchFamily="82" charset="0"/>
                <a:ea typeface="+mj-ea"/>
                <a:cs typeface="+mj-cs"/>
              </a:rPr>
              <a:t>Computer Programming</a:t>
            </a:r>
            <a:endParaRPr kumimoji="0" lang="en-IN" sz="48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Broadway" pitchFamily="82" charset="0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928662" y="2928934"/>
            <a:ext cx="70580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71868" y="3071810"/>
            <a:ext cx="20113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CC0000"/>
                </a:solidFill>
                <a:latin typeface="Arial Rounded MT Bold" pitchFamily="34" charset="0"/>
                <a:cs typeface="+mn-cs"/>
              </a:rPr>
              <a:t>Lecture #0</a:t>
            </a:r>
            <a:endParaRPr lang="en-IN" sz="2400" dirty="0">
              <a:solidFill>
                <a:srgbClr val="CC0000"/>
              </a:solidFill>
              <a:latin typeface="Arial Rounded MT Bold" pitchFamily="34" charset="0"/>
              <a:cs typeface="+mn-cs"/>
            </a:endParaRPr>
          </a:p>
        </p:txBody>
      </p:sp>
      <p:pic>
        <p:nvPicPr>
          <p:cNvPr id="17410" name="Picture 2" descr="Image result for c langu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3643314"/>
            <a:ext cx="3452820" cy="2571768"/>
          </a:xfrm>
          <a:prstGeom prst="rect">
            <a:avLst/>
          </a:prstGeom>
          <a:noFill/>
        </p:spPr>
      </p:pic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xmlns="" id="{267CFECF-4D43-45E3-A57D-318825FA74C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7286625" cy="785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Details</a:t>
            </a:r>
            <a:endParaRPr lang="en-IN" altLang="en-US" b="1">
              <a:solidFill>
                <a:srgbClr val="CC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9A4B4C-523A-46F0-81BE-3AA86A0D945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42875" y="1071563"/>
            <a:ext cx="8858250" cy="535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endParaRPr lang="en-US" dirty="0"/>
          </a:p>
          <a:p>
            <a:r>
              <a:rPr lang="en-US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 Category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Mid Term Exam: All MCQ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End Term Exam: MCQ + Subjective </a:t>
            </a:r>
            <a:r>
              <a:rPr lang="en-US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endParaRPr lang="en-US" altLang="en-US" b="1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b="1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IN" altLang="en-US" dirty="0">
              <a:solidFill>
                <a:srgbClr val="003399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7B5CFDC7-B91E-4CB4-B263-0171A5123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54381"/>
              </p:ext>
            </p:extLst>
          </p:nvPr>
        </p:nvGraphicFramePr>
        <p:xfrm>
          <a:off x="500063" y="1071563"/>
          <a:ext cx="3567880" cy="1646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34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34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81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4228">
                <a:tc>
                  <a:txBody>
                    <a:bodyPr/>
                    <a:lstStyle/>
                    <a:p>
                      <a:r>
                        <a:rPr lang="en-IN" sz="32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IN" sz="32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IN" sz="32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         Credit</a:t>
                      </a:r>
                    </a:p>
                  </a:txBody>
                  <a:tcPr marL="91439" marR="91439" marT="45745" marB="4574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81081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2             3 </a:t>
                      </a:r>
                    </a:p>
                    <a:p>
                      <a:r>
                        <a:rPr lang="en-IN" sz="32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</a:txBody>
                  <a:tcPr marL="91439" marR="91439" marT="45745" marB="4574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DE6AD2-8FCD-45E5-B299-3FCF5975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Reference 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2FDB11-4008-4FCD-B3C8-BB6B9367D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4" y="1412776"/>
            <a:ext cx="8858312" cy="501662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“PROGRAMMING IN C” </a:t>
            </a:r>
          </a:p>
          <a:p>
            <a:pPr lvl="1">
              <a:buNone/>
            </a:pPr>
            <a:r>
              <a:rPr lang="en-IN" alt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1">
              <a:buNone/>
            </a:pPr>
            <a:r>
              <a:rPr lang="en-IN" alt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ASHOK N. KAMTHANE</a:t>
            </a:r>
          </a:p>
          <a:p>
            <a:pPr lvl="1">
              <a:buNone/>
            </a:pPr>
            <a:r>
              <a:rPr lang="en-IN" alt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PEARSON, 2</a:t>
            </a:r>
            <a:r>
              <a:rPr lang="en-IN" altLang="en-US" sz="3200" baseline="300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alt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  <a:endParaRPr lang="en-US" altLang="en-US" sz="3200" u="sng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7" descr="book1image.jpg">
            <a:extLst>
              <a:ext uri="{FF2B5EF4-FFF2-40B4-BE49-F238E27FC236}">
                <a16:creationId xmlns:a16="http://schemas.microsoft.com/office/drawing/2014/main" xmlns="" id="{B4889A6E-2D38-4DB7-B219-81A196034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298" y="1124744"/>
            <a:ext cx="3215157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455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 dirty="0">
                <a:solidFill>
                  <a:srgbClr val="CC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Reference Books</a:t>
            </a:r>
            <a:r>
              <a:rPr lang="en-IN" altLang="en-US" b="1" dirty="0">
                <a:solidFill>
                  <a:srgbClr val="CC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IN" altLang="en-US" b="1" dirty="0">
                <a:solidFill>
                  <a:srgbClr val="CC0000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IN" b="1" dirty="0">
              <a:solidFill>
                <a:srgbClr val="CC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Arial" pitchFamily="34" charset="0"/>
              <a:buChar char="•"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IN" sz="32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 HOW TO PROGRAM</a:t>
            </a: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” by </a:t>
            </a:r>
          </a:p>
          <a:p>
            <a:pPr lvl="1">
              <a:buNone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PAUL DEITEL AND</a:t>
            </a:r>
          </a:p>
          <a:p>
            <a:pPr lvl="1">
              <a:buNone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HARVEY DEITEL </a:t>
            </a:r>
          </a:p>
          <a:p>
            <a:pPr lvl="1">
              <a:buNone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PHI(Prentice Hall India) 7</a:t>
            </a:r>
            <a:r>
              <a:rPr lang="en-IN" sz="3200" baseline="300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Edition</a:t>
            </a:r>
          </a:p>
          <a:p>
            <a:pPr lvl="1">
              <a:buNone/>
              <a:defRPr/>
            </a:pPr>
            <a:endParaRPr lang="en-IN" sz="3200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Arial" pitchFamily="34" charset="0"/>
              <a:buChar char="•"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N" sz="32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PROGRAMMING IN ANSI C</a:t>
            </a: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</a:p>
          <a:p>
            <a:pPr marL="971550" lvl="1" indent="-514350">
              <a:buNone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By E. BALAGURUSAMY </a:t>
            </a:r>
          </a:p>
          <a:p>
            <a:pPr lvl="1">
              <a:buNone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McGraw Hill Education </a:t>
            </a:r>
          </a:p>
          <a:p>
            <a:pPr lvl="1">
              <a:buNone/>
              <a:defRPr/>
            </a:pP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IN" sz="3200" baseline="300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32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Edition</a:t>
            </a:r>
          </a:p>
          <a:p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066800"/>
            <a:ext cx="1981200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book3.jpe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3962400"/>
            <a:ext cx="198120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31077B96-4AAB-4917-BBB1-82A048D0ED3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7286625" cy="785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 Model</a:t>
            </a:r>
            <a:r>
              <a:rPr lang="en-IN" altLang="en-US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altLang="en-US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b="1">
              <a:solidFill>
                <a:srgbClr val="CC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A85714-7530-4DBB-A25B-02B284452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484783"/>
            <a:ext cx="8858250" cy="494459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Marks break up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Attendance						  05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Academic Task(CA)                                      25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MTE							  20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ETE							  50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Total						          100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BF403AF0-6506-4070-8747-6D5E28BE7BB6}"/>
              </a:ext>
            </a:extLst>
          </p:cNvPr>
          <p:cNvCxnSpPr/>
          <p:nvPr/>
        </p:nvCxnSpPr>
        <p:spPr>
          <a:xfrm>
            <a:off x="7452320" y="5085184"/>
            <a:ext cx="1081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Course Outcomes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/>
              <a:t>Through this course students should be able </a:t>
            </a:r>
            <a:r>
              <a:rPr lang="en-US" sz="2800" dirty="0" smtClean="0"/>
              <a:t>to: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884190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605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WHY C???????????????</a:t>
            </a:r>
          </a:p>
        </p:txBody>
      </p:sp>
      <p:pic>
        <p:nvPicPr>
          <p:cNvPr id="3075" name="Picture 3" descr="C:\Users\Dell\Desktop\_87339208_9c5c6008-16ae-4f26-bd98-a8538bf2b71b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857364"/>
            <a:ext cx="928694" cy="1071570"/>
          </a:xfrm>
          <a:prstGeom prst="rect">
            <a:avLst/>
          </a:prstGeom>
          <a:noFill/>
        </p:spPr>
      </p:pic>
      <p:pic>
        <p:nvPicPr>
          <p:cNvPr id="3077" name="Picture 5" descr="Image result for programming languages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4546" y="1285860"/>
            <a:ext cx="1428761" cy="714380"/>
          </a:xfrm>
          <a:prstGeom prst="rect">
            <a:avLst/>
          </a:prstGeom>
          <a:noFill/>
        </p:spPr>
      </p:pic>
      <p:sp>
        <p:nvSpPr>
          <p:cNvPr id="3079" name="AutoShape 7" descr="Image result for c++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1" name="AutoShape 9" descr="Image result for c++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3" name="AutoShape 11" descr="Image result for c++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5" name="AutoShape 13" descr="Image result for c++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87" name="Picture 15" descr="Image result for c++ 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3500438"/>
            <a:ext cx="1214446" cy="909626"/>
          </a:xfrm>
          <a:prstGeom prst="rect">
            <a:avLst/>
          </a:prstGeom>
          <a:noFill/>
        </p:spPr>
      </p:pic>
      <p:pic>
        <p:nvPicPr>
          <p:cNvPr id="3089" name="Picture 17" descr="Image result for c#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28860" y="4857760"/>
            <a:ext cx="1000165" cy="785818"/>
          </a:xfrm>
          <a:prstGeom prst="rect">
            <a:avLst/>
          </a:prstGeom>
          <a:noFill/>
        </p:spPr>
      </p:pic>
      <p:pic>
        <p:nvPicPr>
          <p:cNvPr id="3091" name="Picture 19" descr="Image result for ASP.net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14810" y="1000108"/>
            <a:ext cx="1000132" cy="1000132"/>
          </a:xfrm>
          <a:prstGeom prst="rect">
            <a:avLst/>
          </a:prstGeom>
          <a:noFill/>
        </p:spPr>
      </p:pic>
      <p:pic>
        <p:nvPicPr>
          <p:cNvPr id="3093" name="Picture 21" descr="Image result for python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43636" y="4643446"/>
            <a:ext cx="928694" cy="857256"/>
          </a:xfrm>
          <a:prstGeom prst="rect">
            <a:avLst/>
          </a:prstGeom>
          <a:noFill/>
        </p:spPr>
      </p:pic>
      <p:pic>
        <p:nvPicPr>
          <p:cNvPr id="3095" name="Picture 23" descr="Image result for visual basic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14810" y="5000636"/>
            <a:ext cx="928694" cy="714380"/>
          </a:xfrm>
          <a:prstGeom prst="rect">
            <a:avLst/>
          </a:prstGeom>
          <a:noFill/>
        </p:spPr>
      </p:pic>
      <p:pic>
        <p:nvPicPr>
          <p:cNvPr id="3097" name="Picture 25" descr="Image result for javascript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072330" y="2928934"/>
            <a:ext cx="1500198" cy="164307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2143108" y="2643182"/>
            <a:ext cx="50720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800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If we have number of powerful programming languages available with us then why c??????</a:t>
            </a:r>
          </a:p>
        </p:txBody>
      </p:sp>
      <p:pic>
        <p:nvPicPr>
          <p:cNvPr id="3101" name="Picture 29" descr="Related image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86512" y="1285861"/>
            <a:ext cx="857256" cy="10715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643834" cy="785794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Popular Programming Ratings</a:t>
            </a:r>
          </a:p>
        </p:txBody>
      </p:sp>
      <p:pic>
        <p:nvPicPr>
          <p:cNvPr id="3074" name="Picture 2" descr="C:\Users\Dell\Downloads\Most popular programming langu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9144000" cy="5600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The hitch...............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Some burning questions in mind......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 is a very old language. Why are we still studying this language??????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Now, we have very powerful languages with us then, why c??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There is no scope of this language in industry</a:t>
            </a:r>
          </a:p>
        </p:txBody>
      </p:sp>
      <p:pic>
        <p:nvPicPr>
          <p:cNvPr id="7" name="Picture 6" descr="wh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43702" y="4500570"/>
            <a:ext cx="2008186" cy="1650996"/>
          </a:xfrm>
          <a:prstGeom prst="rect">
            <a:avLst/>
          </a:prstGeom>
        </p:spPr>
      </p:pic>
      <p:pic>
        <p:nvPicPr>
          <p:cNvPr id="4100" name="Picture 4" descr="Image result for why why w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4500570"/>
            <a:ext cx="5572164" cy="20002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Lets take you close to the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All of us use Computers or Laptops for different purposes.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Could you tell me which system software is most required to get our system in working mode??????</a:t>
            </a: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Microsoft_Windows__horizontal_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9104463">
            <a:off x="-482917" y="4075042"/>
            <a:ext cx="3954747" cy="830073"/>
          </a:xfrm>
          <a:prstGeom prst="rect">
            <a:avLst/>
          </a:prstGeom>
        </p:spPr>
      </p:pic>
      <p:pic>
        <p:nvPicPr>
          <p:cNvPr id="22530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9027901">
            <a:off x="1332990" y="4086023"/>
            <a:ext cx="3475603" cy="1374001"/>
          </a:xfrm>
          <a:prstGeom prst="rect">
            <a:avLst/>
          </a:prstGeom>
          <a:noFill/>
        </p:spPr>
      </p:pic>
      <p:pic>
        <p:nvPicPr>
          <p:cNvPr id="22536" name="Picture 8" descr="Image result for unix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9022274">
            <a:off x="4844238" y="4208063"/>
            <a:ext cx="3729503" cy="1113762"/>
          </a:xfrm>
          <a:prstGeom prst="rect">
            <a:avLst/>
          </a:prstGeom>
          <a:noFill/>
        </p:spPr>
      </p:pic>
      <p:pic>
        <p:nvPicPr>
          <p:cNvPr id="22538" name="Picture 10" descr="Image result for ubuntu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9080893">
            <a:off x="5746808" y="4826306"/>
            <a:ext cx="3867727" cy="955275"/>
          </a:xfrm>
          <a:prstGeom prst="rect">
            <a:avLst/>
          </a:prstGeom>
          <a:noFill/>
        </p:spPr>
      </p:pic>
      <p:pic>
        <p:nvPicPr>
          <p:cNvPr id="22540" name="Picture 12" descr="Image result for mac operating system logo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8869236">
            <a:off x="3064946" y="3935794"/>
            <a:ext cx="4025800" cy="11599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Let’s Explore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Could you tell me which programming language is used in writing all these operating system??????</a:t>
            </a: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Latest version of Microsoft Windows i.e. Windows10 is still being written in C Language </a:t>
            </a: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-programm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14876" y="2428868"/>
            <a:ext cx="2786050" cy="1928802"/>
          </a:xfrm>
          <a:prstGeom prst="rect">
            <a:avLst/>
          </a:prstGeom>
        </p:spPr>
      </p:pic>
      <p:pic>
        <p:nvPicPr>
          <p:cNvPr id="23554" name="Picture 2" descr="Image result for c langu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5589241"/>
            <a:ext cx="2686050" cy="1268760"/>
          </a:xfrm>
          <a:prstGeom prst="rect">
            <a:avLst/>
          </a:prstGeom>
          <a:noFill/>
        </p:spPr>
      </p:pic>
      <p:pic>
        <p:nvPicPr>
          <p:cNvPr id="23556" name="Picture 4" descr="Image result for c langu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662" y="2428868"/>
            <a:ext cx="2786082" cy="1928826"/>
          </a:xfrm>
          <a:prstGeom prst="rect">
            <a:avLst/>
          </a:prstGeom>
          <a:noFill/>
        </p:spPr>
      </p:pic>
      <p:pic>
        <p:nvPicPr>
          <p:cNvPr id="10242" name="Picture 2" descr="Image result for microsoft window 10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596" y="5500702"/>
            <a:ext cx="4667248" cy="78581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Contd.....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Device drivers are also written in C language.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All these modern programming languages are influenced by C language</a:t>
            </a:r>
          </a:p>
          <a:p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Compilers for Python and PHP language are also written in C language</a:t>
            </a:r>
          </a:p>
          <a:p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Dell\Desktop\_87339208_9c5c6008-16ae-4f26-bd98-a8538bf2b71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3000372"/>
            <a:ext cx="928694" cy="1071570"/>
          </a:xfrm>
          <a:prstGeom prst="rect">
            <a:avLst/>
          </a:prstGeom>
          <a:noFill/>
        </p:spPr>
      </p:pic>
      <p:pic>
        <p:nvPicPr>
          <p:cNvPr id="5" name="Picture 5" descr="Image result for programming languages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60" y="3214686"/>
            <a:ext cx="1428761" cy="714380"/>
          </a:xfrm>
          <a:prstGeom prst="rect">
            <a:avLst/>
          </a:prstGeom>
          <a:noFill/>
        </p:spPr>
      </p:pic>
      <p:pic>
        <p:nvPicPr>
          <p:cNvPr id="6" name="Picture 15" descr="Image result for c++ 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28794" y="3071810"/>
            <a:ext cx="1214446" cy="909626"/>
          </a:xfrm>
          <a:prstGeom prst="rect">
            <a:avLst/>
          </a:prstGeom>
          <a:noFill/>
        </p:spPr>
      </p:pic>
      <p:pic>
        <p:nvPicPr>
          <p:cNvPr id="7" name="Picture 17" descr="Image result for c#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86116" y="3214686"/>
            <a:ext cx="1000165" cy="785818"/>
          </a:xfrm>
          <a:prstGeom prst="rect">
            <a:avLst/>
          </a:prstGeom>
          <a:noFill/>
        </p:spPr>
      </p:pic>
      <p:pic>
        <p:nvPicPr>
          <p:cNvPr id="8" name="Picture 21" descr="Image result for python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7158" y="2786058"/>
            <a:ext cx="1357322" cy="1571636"/>
          </a:xfrm>
          <a:prstGeom prst="rect">
            <a:avLst/>
          </a:prstGeom>
          <a:noFill/>
        </p:spPr>
      </p:pic>
      <p:pic>
        <p:nvPicPr>
          <p:cNvPr id="9" name="Picture 25" descr="Image result for javascript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43802" y="2643182"/>
            <a:ext cx="1500198" cy="16430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Contd.....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Embedded systems are also developed with the help of C language</a:t>
            </a:r>
            <a:endParaRPr lang="en-IN" dirty="0"/>
          </a:p>
        </p:txBody>
      </p:sp>
      <p:pic>
        <p:nvPicPr>
          <p:cNvPr id="4" name="Picture 4" descr="Image result for embedded system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285992"/>
            <a:ext cx="3857652" cy="3896230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357430"/>
            <a:ext cx="4263693" cy="37147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Contd.....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2875" y="1071563"/>
          <a:ext cx="8858250" cy="560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5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Git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Microsoft Excel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Oracle Database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sz="2000" b="1" dirty="0" err="1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MySql</a:t>
                      </a: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Linux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Unix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Android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87589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4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sz="2000" b="1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Google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000" b="1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pic>
        <p:nvPicPr>
          <p:cNvPr id="5" name="Picture 2" descr="Image result for gi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1071546"/>
            <a:ext cx="1000132" cy="642942"/>
          </a:xfrm>
          <a:prstGeom prst="rect">
            <a:avLst/>
          </a:prstGeom>
          <a:noFill/>
        </p:spPr>
      </p:pic>
      <p:pic>
        <p:nvPicPr>
          <p:cNvPr id="6" name="Picture 4" descr="Image result for microsoft excel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1785926"/>
            <a:ext cx="928694" cy="642941"/>
          </a:xfrm>
          <a:prstGeom prst="rect">
            <a:avLst/>
          </a:prstGeom>
          <a:noFill/>
        </p:spPr>
      </p:pic>
      <p:pic>
        <p:nvPicPr>
          <p:cNvPr id="7" name="Picture 6" descr="Image result for oracle 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4546" y="2571744"/>
            <a:ext cx="1470543" cy="500066"/>
          </a:xfrm>
          <a:prstGeom prst="rect">
            <a:avLst/>
          </a:prstGeom>
          <a:noFill/>
        </p:spPr>
      </p:pic>
      <p:pic>
        <p:nvPicPr>
          <p:cNvPr id="8" name="Picture 8" descr="Image result for my sql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00694" y="3214686"/>
            <a:ext cx="2057420" cy="642942"/>
          </a:xfrm>
          <a:prstGeom prst="rect">
            <a:avLst/>
          </a:prstGeom>
          <a:noFill/>
        </p:spPr>
      </p:pic>
      <p:pic>
        <p:nvPicPr>
          <p:cNvPr id="9" name="Picture 2" descr="Related imag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1538" y="3929066"/>
            <a:ext cx="1668205" cy="642942"/>
          </a:xfrm>
          <a:prstGeom prst="rect">
            <a:avLst/>
          </a:prstGeom>
          <a:noFill/>
        </p:spPr>
      </p:pic>
      <p:pic>
        <p:nvPicPr>
          <p:cNvPr id="10" name="Picture 9" descr="Image result for unix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00760" y="4643446"/>
            <a:ext cx="1740060" cy="628510"/>
          </a:xfrm>
          <a:prstGeom prst="rect">
            <a:avLst/>
          </a:prstGeom>
          <a:noFill/>
        </p:spPr>
      </p:pic>
      <p:pic>
        <p:nvPicPr>
          <p:cNvPr id="11" name="Picture 10" descr="Image result for android log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28728" y="5286388"/>
            <a:ext cx="1285884" cy="631952"/>
          </a:xfrm>
          <a:prstGeom prst="rect">
            <a:avLst/>
          </a:prstGeom>
          <a:noFill/>
        </p:spPr>
      </p:pic>
      <p:pic>
        <p:nvPicPr>
          <p:cNvPr id="12" name="Picture 12" descr="Related image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857884" y="5929330"/>
            <a:ext cx="2786082" cy="7143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MNCs </a:t>
            </a:r>
          </a:p>
        </p:txBody>
      </p:sp>
      <p:pic>
        <p:nvPicPr>
          <p:cNvPr id="30722" name="Picture 2" descr="Image result for apple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285992"/>
            <a:ext cx="1285884" cy="1143008"/>
          </a:xfrm>
          <a:prstGeom prst="rect">
            <a:avLst/>
          </a:prstGeom>
          <a:noFill/>
        </p:spPr>
      </p:pic>
      <p:pic>
        <p:nvPicPr>
          <p:cNvPr id="30724" name="Picture 4" descr="Image result for nvidia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500438"/>
            <a:ext cx="2143140" cy="1357323"/>
          </a:xfrm>
          <a:prstGeom prst="rect">
            <a:avLst/>
          </a:prstGeom>
          <a:noFill/>
        </p:spPr>
      </p:pic>
      <p:pic>
        <p:nvPicPr>
          <p:cNvPr id="30726" name="Picture 6" descr="Image result for vmware 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29488" y="3143248"/>
            <a:ext cx="1714512" cy="1143008"/>
          </a:xfrm>
          <a:prstGeom prst="rect">
            <a:avLst/>
          </a:prstGeom>
          <a:noFill/>
        </p:spPr>
      </p:pic>
      <p:pic>
        <p:nvPicPr>
          <p:cNvPr id="30728" name="Picture 8" descr="Image result for AMD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86643" y="4500570"/>
            <a:ext cx="1764473" cy="1071570"/>
          </a:xfrm>
          <a:prstGeom prst="rect">
            <a:avLst/>
          </a:prstGeom>
          <a:noFill/>
        </p:spPr>
      </p:pic>
      <p:pic>
        <p:nvPicPr>
          <p:cNvPr id="30730" name="Picture 10" descr="Image result for memsql logo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28860" y="5429264"/>
            <a:ext cx="2143140" cy="928694"/>
          </a:xfrm>
          <a:prstGeom prst="rect">
            <a:avLst/>
          </a:prstGeom>
          <a:noFill/>
        </p:spPr>
      </p:pic>
      <p:pic>
        <p:nvPicPr>
          <p:cNvPr id="30732" name="Picture 12" descr="Image result for microsoft logo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57290" y="1571612"/>
            <a:ext cx="2309465" cy="585754"/>
          </a:xfrm>
          <a:prstGeom prst="rect">
            <a:avLst/>
          </a:prstGeom>
          <a:noFill/>
        </p:spPr>
      </p:pic>
      <p:pic>
        <p:nvPicPr>
          <p:cNvPr id="30734" name="Picture 14" descr="Image result for amazon log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14942" y="1500174"/>
            <a:ext cx="2357454" cy="863772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92867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i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Top rated Companies which has a dearth of C programmers</a:t>
            </a:r>
          </a:p>
        </p:txBody>
      </p:sp>
      <p:pic>
        <p:nvPicPr>
          <p:cNvPr id="16" name="Picture 6" descr="Image result for intel logo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86578" y="2143116"/>
            <a:ext cx="1428760" cy="857255"/>
          </a:xfrm>
          <a:prstGeom prst="rect">
            <a:avLst/>
          </a:prstGeom>
          <a:noFill/>
        </p:spPr>
      </p:pic>
      <p:pic>
        <p:nvPicPr>
          <p:cNvPr id="18" name="Picture 4" descr="Image result for yahoo log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857752" y="5357826"/>
            <a:ext cx="2357454" cy="714356"/>
          </a:xfrm>
          <a:prstGeom prst="rect">
            <a:avLst/>
          </a:prstGeom>
          <a:noFill/>
        </p:spPr>
      </p:pic>
      <p:pic>
        <p:nvPicPr>
          <p:cNvPr id="19" name="Picture 2" descr="Image result for red hat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57224" y="4786322"/>
            <a:ext cx="1428760" cy="1080500"/>
          </a:xfrm>
          <a:prstGeom prst="rect">
            <a:avLst/>
          </a:prstGeom>
          <a:noFill/>
        </p:spPr>
      </p:pic>
      <p:pic>
        <p:nvPicPr>
          <p:cNvPr id="20" name="Picture 10" descr="Image result for Facebook 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857620" y="1428736"/>
            <a:ext cx="1214446" cy="937912"/>
          </a:xfrm>
          <a:prstGeom prst="rect">
            <a:avLst/>
          </a:prstGeom>
          <a:noFill/>
        </p:spPr>
      </p:pic>
      <p:pic>
        <p:nvPicPr>
          <p:cNvPr id="22" name="Picture 12" descr="Related imag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285984" y="2714620"/>
            <a:ext cx="4214842" cy="27146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00098" y="0"/>
            <a:ext cx="8358246" cy="785794"/>
          </a:xfrm>
        </p:spPr>
        <p:txBody>
          <a:bodyPr/>
          <a:lstStyle/>
          <a:p>
            <a:r>
              <a:rPr lang="en-IN" sz="40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Here are the Answers of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 is very a old language still, why do we study C language??</a:t>
            </a: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Now, we have very powerful languages</a:t>
            </a:r>
          </a:p>
          <a:p>
            <a:pPr>
              <a:buNone/>
            </a:pP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with us then why c??</a:t>
            </a:r>
          </a:p>
          <a:p>
            <a:pPr>
              <a:buNone/>
            </a:pPr>
            <a:endParaRPr lang="en-IN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There is no scope of this language in industry</a:t>
            </a:r>
          </a:p>
          <a:p>
            <a:endParaRPr lang="en-IN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240" y="1714488"/>
            <a:ext cx="200026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68" y="3214686"/>
            <a:ext cx="1785950" cy="178595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 rot="20153440">
            <a:off x="7448867" y="3598966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Basic Pillar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158" y="5286388"/>
            <a:ext cx="8501122" cy="769441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  <a:reflection blurRad="6350" stA="50000" endA="295" endPos="92000" dist="101600" dir="5400000" sy="-100000" algn="bl" rotWithShape="0"/>
          </a:effectLst>
          <a:scene3d>
            <a:camera prst="perspectiveRelaxed"/>
            <a:lightRig rig="threePt" dir="t"/>
          </a:scene3d>
          <a:sp3d>
            <a:bevelT prst="slope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0541" cmpd="sng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Scope for Experts always Exists</a:t>
            </a:r>
            <a:endParaRPr lang="en-US" sz="4400" b="1" cap="none" spc="0" dirty="0">
              <a:ln w="10541" cmpd="sng">
                <a:solidFill>
                  <a:schemeClr val="accent6">
                    <a:lumMod val="75000"/>
                  </a:scheme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A66F80-B1F4-4586-A12B-88F6B182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908720"/>
            <a:ext cx="8858250" cy="5760639"/>
          </a:xfrm>
        </p:spPr>
        <p:txBody>
          <a:bodyPr/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 C language is not used in Electronics. </a:t>
            </a:r>
            <a:r>
              <a:rPr lang="en-US" sz="24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 C language is Electronics.  </a:t>
            </a:r>
            <a:r>
              <a:rPr lang="en-US" sz="24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C language knowledge and C programming skill are must for every ECE student. Since C programming is skill, every ECE students should start practicing C programming from </a:t>
            </a:r>
            <a:r>
              <a:rPr lang="en-US" sz="24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1st</a:t>
            </a:r>
            <a:r>
              <a:rPr lang="en-US" sz="24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semester onwards and continue to practice </a:t>
            </a:r>
            <a:r>
              <a:rPr lang="en-US" sz="24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r>
              <a:rPr lang="en-US" sz="24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during the entire 4 years.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b="1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Balajee</a:t>
            </a:r>
            <a:r>
              <a:rPr lang="en-US" sz="24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Seshadri</a:t>
            </a:r>
            <a:endParaRPr lang="en-US" sz="2400" b="1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Professional</a:t>
            </a:r>
          </a:p>
          <a:p>
            <a:pPr marL="0" indent="0" algn="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Years Experience in Embedded Systems Field.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800" i="1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i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https://www.quora.com/What-is-the-use-of-c-language-in-electronics</a:t>
            </a:r>
          </a:p>
          <a:p>
            <a:pPr marL="0" indent="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8" name="Picture 2" descr="Balajee Seshadri">
            <a:extLst>
              <a:ext uri="{FF2B5EF4-FFF2-40B4-BE49-F238E27FC236}">
                <a16:creationId xmlns:a16="http://schemas.microsoft.com/office/drawing/2014/main" xmlns="" id="{A3D6125D-92DE-4048-AAE3-EB2FC3164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84984"/>
            <a:ext cx="2340893" cy="233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History of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785794"/>
            <a:ext cx="8858312" cy="5643602"/>
          </a:xfrm>
        </p:spPr>
        <p:txBody>
          <a:bodyPr/>
          <a:lstStyle/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Guys Can you make a sentence with the word ‘</a:t>
            </a:r>
            <a:r>
              <a:rPr lang="en-IN" b="1" i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Necessity</a:t>
            </a: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pPr algn="ctr">
              <a:buNone/>
            </a:pP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“Necessity is the mother of invention”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Dennis Ritchie and Ken Thompson were working on developing a new operating system </a:t>
            </a:r>
            <a:r>
              <a:rPr lang="en-IN" dirty="0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UNIX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But the programming language they</a:t>
            </a:r>
          </a:p>
          <a:p>
            <a:pPr>
              <a:buNone/>
            </a:pP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were using was not providing them</a:t>
            </a:r>
          </a:p>
          <a:p>
            <a:pPr>
              <a:buNone/>
            </a:pP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the portability feature</a:t>
            </a:r>
          </a:p>
          <a:p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So Dennis Ritchie developed new</a:t>
            </a:r>
          </a:p>
          <a:p>
            <a:pPr>
              <a:buNone/>
            </a:pP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language </a:t>
            </a:r>
            <a:r>
              <a:rPr lang="en-IN" dirty="0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IN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C </a:t>
            </a:r>
          </a:p>
        </p:txBody>
      </p:sp>
      <p:pic>
        <p:nvPicPr>
          <p:cNvPr id="4" name="Picture 4" descr="220px-Dennis_Ritchie_201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08" y="3717032"/>
            <a:ext cx="2428892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AC97E1-BD29-4E73-BEE3-150ED5D9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4368" cy="785794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is C used? Key Applications</a:t>
            </a: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BA3ABC-8B59-4B33-A76F-FE57CB116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4" y="908720"/>
            <a:ext cx="8858312" cy="5688632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'C' language is widely used in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developing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Applications &amp; Desktop Applications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of the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by Adobe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developed using 'C' programming language.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developing browsers and their extensions.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Google's Chromium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built using it.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databases.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popular database software which is built using 'C’.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operating system.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Operating systems such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Apple's OS X, Microsoft's Windows, and Symbian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developed using 'C' language. It is used for developing desktop as well as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phone's operating system.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</a:t>
            </a:r>
            <a:r>
              <a:rPr 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production.</a:t>
            </a:r>
          </a:p>
        </p:txBody>
      </p:sp>
    </p:spTree>
    <p:extLst>
      <p:ext uri="{BB962C8B-B14F-4D97-AF65-F5344CB8AC3E}">
        <p14:creationId xmlns:p14="http://schemas.microsoft.com/office/powerpoint/2010/main" val="618617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7FD36D-5304-47FA-A24C-74F42DCA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AF1544-575A-49E1-903F-BDDA92C6B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4" y="1412776"/>
            <a:ext cx="9001156" cy="5016620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1988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American National Standards Institute (ANSI)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had formalized the C language.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was invented to write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operating system.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a successor of 'Basic Combined Programming Language' (BCPL) called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language.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OS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written in C.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has been written in assembly language.</a:t>
            </a:r>
          </a:p>
          <a:p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64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A9C23D-F233-4ADF-BE2A-1BEAEF00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6446FC-2576-4138-9CF3-7D07D755C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4" y="1340768"/>
            <a:ext cx="8858312" cy="5088628"/>
          </a:xfrm>
        </p:spPr>
        <p:txBody>
          <a:bodyPr/>
          <a:lstStyle/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a </a:t>
            </a:r>
            <a:r>
              <a:rPr 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language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rich set of built-in functions and operators.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 written in C are </a:t>
            </a:r>
            <a:r>
              <a:rPr 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Fast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highly </a:t>
            </a:r>
            <a:r>
              <a:rPr 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Portable,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programs once written in C can be run on other machines with minor or no modification.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a </a:t>
            </a:r>
            <a:r>
              <a:rPr 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C library functions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we can also create our function and add it to the C library.</a:t>
            </a:r>
          </a:p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easily </a:t>
            </a:r>
            <a:r>
              <a:rPr 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Extensible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71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Course Contents</a:t>
            </a:r>
            <a:endParaRPr lang="en-IN" b="1" dirty="0">
              <a:solidFill>
                <a:srgbClr val="CC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291107"/>
              </p:ext>
            </p:extLst>
          </p:nvPr>
        </p:nvGraphicFramePr>
        <p:xfrm>
          <a:off x="142875" y="879121"/>
          <a:ext cx="8858250" cy="6471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862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42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CC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Before</a:t>
                      </a:r>
                      <a:r>
                        <a:rPr lang="en-IN" sz="2800" b="1" baseline="0" dirty="0">
                          <a:solidFill>
                            <a:srgbClr val="CC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MTE</a:t>
                      </a:r>
                      <a:endParaRPr lang="en-IN" sz="2800" b="1" dirty="0">
                        <a:solidFill>
                          <a:srgbClr val="CC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CC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After</a:t>
                      </a:r>
                      <a:r>
                        <a:rPr lang="en-IN" sz="2800" b="1" baseline="0" dirty="0">
                          <a:solidFill>
                            <a:srgbClr val="CC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MTE</a:t>
                      </a:r>
                      <a:endParaRPr lang="en-IN" sz="2800" b="1" dirty="0">
                        <a:solidFill>
                          <a:srgbClr val="CC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87533">
                <a:tc>
                  <a:txBody>
                    <a:bodyPr/>
                    <a:lstStyle/>
                    <a:p>
                      <a:pPr eaLnBrk="1" fontAlgn="auto" hangingPunct="1">
                        <a:spcAft>
                          <a:spcPts val="0"/>
                        </a:spcAft>
                        <a:buFont typeface="Arial" pitchFamily="34" charset="0"/>
                        <a:buChar char="•"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 Types &amp;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Arrays and 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108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Control Structures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Dynamic Memory Allocation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108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User Defined Functions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Derived Data Types – Structures &amp; Unions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341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Storage Classes                         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Pointers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78132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en-IN" sz="2800" dirty="0">
                        <a:solidFill>
                          <a:srgbClr val="0033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rot="5400000">
            <a:off x="1500178" y="3857616"/>
            <a:ext cx="6000768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Image result for next cla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295400"/>
            <a:ext cx="1493838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0" y="2590800"/>
            <a:ext cx="44958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Program Development in C</a:t>
            </a:r>
          </a:p>
        </p:txBody>
      </p:sp>
      <p:pic>
        <p:nvPicPr>
          <p:cNvPr id="6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295400"/>
            <a:ext cx="589597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819400" y="1600200"/>
            <a:ext cx="4876800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6000" dirty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  <a:cs typeface="Times New Roman" pitchFamily="18" charset="0"/>
              </a:rPr>
              <a:t>Program Development in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U1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</TotalTime>
  <Words>720</Words>
  <Application>Microsoft Office PowerPoint</Application>
  <PresentationFormat>On-screen Show (4:3)</PresentationFormat>
  <Paragraphs>142</Paragraphs>
  <Slides>23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LPU1_theme</vt:lpstr>
      <vt:lpstr>PowerPoint Presentation</vt:lpstr>
      <vt:lpstr>Course Details</vt:lpstr>
      <vt:lpstr>Reference Books</vt:lpstr>
      <vt:lpstr>Reference Books </vt:lpstr>
      <vt:lpstr>Course Assessment Model </vt:lpstr>
      <vt:lpstr>Course Outcomes</vt:lpstr>
      <vt:lpstr>WHY C???????????????</vt:lpstr>
      <vt:lpstr>Popular Programming Ratings</vt:lpstr>
      <vt:lpstr>The hitch...............</vt:lpstr>
      <vt:lpstr>Lets take you close to the reality</vt:lpstr>
      <vt:lpstr>Let’s Explore more</vt:lpstr>
      <vt:lpstr>Contd.....</vt:lpstr>
      <vt:lpstr>Contd.....</vt:lpstr>
      <vt:lpstr>Contd.....</vt:lpstr>
      <vt:lpstr>MNCs </vt:lpstr>
      <vt:lpstr>Here are the Answers of Questions</vt:lpstr>
      <vt:lpstr>PowerPoint Presentation</vt:lpstr>
      <vt:lpstr>History of C</vt:lpstr>
      <vt:lpstr>Where is C used? Key Applications </vt:lpstr>
      <vt:lpstr>Some facts</vt:lpstr>
      <vt:lpstr>Features of C </vt:lpstr>
      <vt:lpstr>Course Contents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HP</cp:lastModifiedBy>
  <cp:revision>33</cp:revision>
  <dcterms:created xsi:type="dcterms:W3CDTF">2017-07-29T04:29:21Z</dcterms:created>
  <dcterms:modified xsi:type="dcterms:W3CDTF">2021-08-20T06:14:36Z</dcterms:modified>
</cp:coreProperties>
</file>