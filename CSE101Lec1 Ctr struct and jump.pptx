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41"/>
  </p:notesMasterIdLst>
  <p:sldIdLst>
    <p:sldId id="302" r:id="rId2"/>
    <p:sldId id="294" r:id="rId3"/>
    <p:sldId id="303" r:id="rId4"/>
    <p:sldId id="298" r:id="rId5"/>
    <p:sldId id="300" r:id="rId6"/>
    <p:sldId id="288" r:id="rId7"/>
    <p:sldId id="260" r:id="rId8"/>
    <p:sldId id="261" r:id="rId9"/>
    <p:sldId id="262" r:id="rId10"/>
    <p:sldId id="263" r:id="rId11"/>
    <p:sldId id="265" r:id="rId12"/>
    <p:sldId id="264" r:id="rId13"/>
    <p:sldId id="301" r:id="rId14"/>
    <p:sldId id="266" r:id="rId15"/>
    <p:sldId id="267" r:id="rId16"/>
    <p:sldId id="268" r:id="rId17"/>
    <p:sldId id="269" r:id="rId18"/>
    <p:sldId id="289" r:id="rId19"/>
    <p:sldId id="271" r:id="rId20"/>
    <p:sldId id="291" r:id="rId21"/>
    <p:sldId id="299" r:id="rId22"/>
    <p:sldId id="272" r:id="rId23"/>
    <p:sldId id="273" r:id="rId24"/>
    <p:sldId id="274" r:id="rId25"/>
    <p:sldId id="275" r:id="rId26"/>
    <p:sldId id="292" r:id="rId27"/>
    <p:sldId id="277" r:id="rId28"/>
    <p:sldId id="296" r:id="rId29"/>
    <p:sldId id="278" r:id="rId30"/>
    <p:sldId id="304" r:id="rId31"/>
    <p:sldId id="297" r:id="rId32"/>
    <p:sldId id="279" r:id="rId33"/>
    <p:sldId id="280" r:id="rId34"/>
    <p:sldId id="281" r:id="rId35"/>
    <p:sldId id="287" r:id="rId36"/>
    <p:sldId id="285" r:id="rId37"/>
    <p:sldId id="290" r:id="rId38"/>
    <p:sldId id="286" r:id="rId39"/>
    <p:sldId id="295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E1E1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416" autoAdjust="0"/>
  </p:normalViewPr>
  <p:slideViewPr>
    <p:cSldViewPr>
      <p:cViewPr varScale="1">
        <p:scale>
          <a:sx n="82" d="100"/>
          <a:sy n="82" d="100"/>
        </p:scale>
        <p:origin x="1474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A1CF2D-6B3C-4084-B04B-62FC9AAC1AD3}" type="datetimeFigureOut">
              <a:rPr lang="en-US" smtClean="0"/>
              <a:pPr/>
              <a:t>9/3/2019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37F2FB-2B98-4350-A258-A93E20F10E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294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 =100</a:t>
            </a:r>
          </a:p>
          <a:p>
            <a:r>
              <a:rPr lang="en-US" dirty="0"/>
              <a:t>Number: 1 cube: 1</a:t>
            </a:r>
          </a:p>
          <a:p>
            <a:r>
              <a:rPr lang="en-US" dirty="0"/>
              <a:t>Number:2</a:t>
            </a:r>
            <a:r>
              <a:rPr lang="en-US" baseline="0" dirty="0"/>
              <a:t> cube: 8</a:t>
            </a:r>
          </a:p>
          <a:p>
            <a:r>
              <a:rPr lang="en-US" baseline="0" dirty="0"/>
              <a:t>Number: 3 cube: 27</a:t>
            </a:r>
          </a:p>
          <a:p>
            <a:r>
              <a:rPr lang="en-US" baseline="0" dirty="0"/>
              <a:t>Number: 4 cube: 64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37F2FB-2B98-4350-A258-A93E20F10ECE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32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sz="4800" dirty="0"/>
              <a:t>CSE101-Lec#1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3429000"/>
            <a:ext cx="7086600" cy="1752600"/>
          </a:xfrm>
        </p:spPr>
        <p:txBody>
          <a:bodyPr/>
          <a:lstStyle>
            <a:lvl1pPr marL="0" indent="0" algn="l">
              <a:buNone/>
              <a:defRPr>
                <a:solidFill>
                  <a:srgbClr val="C00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839322" y="3352800"/>
            <a:ext cx="705678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495800" y="5562600"/>
            <a:ext cx="457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0" dirty="0">
                <a:solidFill>
                  <a:srgbClr val="002060"/>
                </a:solidFill>
                <a:latin typeface="Arial Rounded MT Bold" pitchFamily="34" charset="0"/>
              </a:rPr>
              <a:t>Created By: 		</a:t>
            </a:r>
          </a:p>
          <a:p>
            <a:pPr algn="r"/>
            <a:r>
              <a:rPr lang="en-US" sz="2000" b="0" dirty="0">
                <a:solidFill>
                  <a:srgbClr val="002060"/>
                </a:solidFill>
                <a:latin typeface="Arial Rounded MT Bold" pitchFamily="34" charset="0"/>
              </a:rPr>
              <a:t>Amanpreet Kaur &amp;</a:t>
            </a:r>
          </a:p>
          <a:p>
            <a:pPr algn="r"/>
            <a:r>
              <a:rPr lang="en-US" sz="2000" b="0" dirty="0">
                <a:solidFill>
                  <a:srgbClr val="002060"/>
                </a:solidFill>
                <a:latin typeface="Arial Rounded MT Bold" pitchFamily="34" charset="0"/>
              </a:rPr>
              <a:t>		Sanjeev</a:t>
            </a:r>
            <a:r>
              <a:rPr lang="en-US" sz="2000" b="0" baseline="0" dirty="0">
                <a:solidFill>
                  <a:srgbClr val="002060"/>
                </a:solidFill>
                <a:latin typeface="Arial Rounded MT Bold" pitchFamily="34" charset="0"/>
              </a:rPr>
              <a:t> Kumar </a:t>
            </a:r>
          </a:p>
          <a:p>
            <a:pPr algn="r"/>
            <a:r>
              <a:rPr lang="en-US" sz="2000" b="0" baseline="0" dirty="0">
                <a:solidFill>
                  <a:srgbClr val="002060"/>
                </a:solidFill>
                <a:latin typeface="Arial Rounded MT Bold" pitchFamily="34" charset="0"/>
              </a:rPr>
              <a:t>		SME (CSE) LPU</a:t>
            </a:r>
            <a:endParaRPr lang="en-US" sz="2000" b="0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839322" y="3352800"/>
            <a:ext cx="705678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495800" y="5562600"/>
            <a:ext cx="457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0" dirty="0">
                <a:solidFill>
                  <a:srgbClr val="002060"/>
                </a:solidFill>
                <a:latin typeface="Arial Rounded MT Bold" pitchFamily="34" charset="0"/>
              </a:rPr>
              <a:t>Created By: 		</a:t>
            </a:r>
          </a:p>
          <a:p>
            <a:pPr algn="r"/>
            <a:r>
              <a:rPr lang="en-US" sz="2000" b="0" dirty="0">
                <a:solidFill>
                  <a:srgbClr val="002060"/>
                </a:solidFill>
                <a:latin typeface="Arial Rounded MT Bold" pitchFamily="34" charset="0"/>
              </a:rPr>
              <a:t>Amanpreet Kaur &amp;</a:t>
            </a:r>
          </a:p>
          <a:p>
            <a:pPr algn="r"/>
            <a:r>
              <a:rPr lang="en-US" sz="2000" b="0" dirty="0">
                <a:solidFill>
                  <a:srgbClr val="002060"/>
                </a:solidFill>
                <a:latin typeface="Arial Rounded MT Bold" pitchFamily="34" charset="0"/>
              </a:rPr>
              <a:t>		Sanjeev</a:t>
            </a:r>
            <a:r>
              <a:rPr lang="en-US" sz="2000" b="0" baseline="0" dirty="0">
                <a:solidFill>
                  <a:srgbClr val="002060"/>
                </a:solidFill>
                <a:latin typeface="Arial Rounded MT Bold" pitchFamily="34" charset="0"/>
              </a:rPr>
              <a:t> Kumar </a:t>
            </a:r>
          </a:p>
          <a:p>
            <a:pPr algn="r"/>
            <a:r>
              <a:rPr lang="en-US" sz="2000" b="0" baseline="0" dirty="0">
                <a:solidFill>
                  <a:srgbClr val="002060"/>
                </a:solidFill>
                <a:latin typeface="Arial Rounded MT Bold" pitchFamily="34" charset="0"/>
              </a:rPr>
              <a:t>		SME (CSE) LPU</a:t>
            </a:r>
            <a:endParaRPr lang="en-US" sz="2000" b="0" dirty="0">
              <a:solidFill>
                <a:srgbClr val="002060"/>
              </a:solidFill>
              <a:latin typeface="Arial Rounded MT Bold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635818"/>
            <a:ext cx="1808162" cy="3297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1953250" y="5958408"/>
            <a:ext cx="7155254" cy="8995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cse101@lpu.co.in</a:t>
            </a:r>
            <a:endParaRPr lang="en-I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755576" y="4077072"/>
            <a:ext cx="705678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4114800"/>
            <a:ext cx="7155254" cy="1600200"/>
          </a:xfrm>
        </p:spPr>
        <p:txBody>
          <a:bodyPr anchor="t">
            <a:noAutofit/>
          </a:bodyPr>
          <a:lstStyle>
            <a:lvl1pPr algn="r">
              <a:defRPr>
                <a:solidFill>
                  <a:srgbClr val="C00000"/>
                </a:solidFill>
              </a:defRPr>
            </a:lvl1pPr>
          </a:lstStyle>
          <a:p>
            <a:pPr algn="r"/>
            <a:r>
              <a:rPr lang="en-US" sz="3600" dirty="0">
                <a:solidFill>
                  <a:srgbClr val="C00000"/>
                </a:solidFill>
              </a:rPr>
              <a:t>Next Class:</a:t>
            </a:r>
            <a:endParaRPr lang="en-IN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>
          <a:xfrm>
            <a:off x="0" y="685800"/>
            <a:ext cx="6400800" cy="5486400"/>
          </a:xfrm>
          <a:solidFill>
            <a:srgbClr val="FFE593"/>
          </a:solidFill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defRPr>
            </a:lvl1pPr>
            <a:lvl2pPr marL="0" indent="0"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defRPr>
            </a:lvl2pPr>
            <a:lvl3pPr marL="0" indent="0"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defRPr>
            </a:lvl3pPr>
            <a:lvl4pPr marL="0" indent="0"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defRPr>
            </a:lvl4pPr>
            <a:lvl5pPr marL="0" indent="0"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553200" y="685800"/>
            <a:ext cx="2590800" cy="54864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buNone/>
              <a:defRPr sz="2800">
                <a:solidFill>
                  <a:schemeClr val="accent1"/>
                </a:solidFill>
              </a:defRPr>
            </a:lvl2pPr>
            <a:lvl3pPr marL="0" indent="0">
              <a:spcBef>
                <a:spcPts val="0"/>
              </a:spcBef>
              <a:buNone/>
              <a:defRPr sz="2800">
                <a:solidFill>
                  <a:schemeClr val="accent1"/>
                </a:solidFill>
              </a:defRPr>
            </a:lvl3pPr>
            <a:lvl4pPr marL="0" indent="0">
              <a:spcBef>
                <a:spcPts val="0"/>
              </a:spcBef>
              <a:buNone/>
              <a:defRPr sz="2800">
                <a:solidFill>
                  <a:schemeClr val="accent1"/>
                </a:solidFill>
              </a:defRPr>
            </a:lvl4pPr>
            <a:lvl5pPr marL="0" indent="0">
              <a:spcBef>
                <a:spcPts val="0"/>
              </a:spcBef>
              <a:buNone/>
              <a:defRPr sz="2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7" name="Rectangle 1031"/>
          <p:cNvSpPr>
            <a:spLocks noChangeArrowheads="1"/>
          </p:cNvSpPr>
          <p:nvPr/>
        </p:nvSpPr>
        <p:spPr bwMode="auto">
          <a:xfrm>
            <a:off x="6705600" y="838200"/>
            <a:ext cx="24384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sz="1400" b="1">
              <a:solidFill>
                <a:schemeClr val="tx1"/>
              </a:solidFill>
              <a:latin typeface="AvantGarde" pitchFamily="34" charset="0"/>
            </a:endParaRP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553200"/>
            <a:ext cx="2743200" cy="381000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 Black" pitchFamily="34" charset="0"/>
              </a:defRPr>
            </a:lvl1pPr>
            <a:lvl2pPr>
              <a:defRPr sz="1200">
                <a:solidFill>
                  <a:schemeClr val="bg1">
                    <a:lumMod val="50000"/>
                  </a:schemeClr>
                </a:solidFill>
                <a:latin typeface="Arial Black" pitchFamily="34" charset="0"/>
              </a:defRPr>
            </a:lvl2pPr>
            <a:lvl3pPr>
              <a:defRPr sz="1200">
                <a:solidFill>
                  <a:schemeClr val="bg1">
                    <a:lumMod val="50000"/>
                  </a:schemeClr>
                </a:solidFill>
                <a:latin typeface="Arial Black" pitchFamily="34" charset="0"/>
              </a:defRPr>
            </a:lvl3pPr>
            <a:lvl4pPr>
              <a:defRPr sz="1200">
                <a:solidFill>
                  <a:schemeClr val="bg1">
                    <a:lumMod val="50000"/>
                  </a:schemeClr>
                </a:solidFill>
                <a:latin typeface="Arial Black" pitchFamily="34" charset="0"/>
              </a:defRPr>
            </a:lvl4pPr>
            <a:lvl5pPr>
              <a:defRPr sz="1200">
                <a:solidFill>
                  <a:schemeClr val="bg1">
                    <a:lumMod val="50000"/>
                  </a:schemeClr>
                </a:solidFill>
                <a:latin typeface="Arial Black" pitchFamily="34" charset="0"/>
              </a:defRPr>
            </a:lvl5pPr>
          </a:lstStyle>
          <a:p>
            <a:pPr lvl="0"/>
            <a:r>
              <a:rPr lang="en-US" dirty="0"/>
              <a:t>©LPU CSE101 C Programming</a:t>
            </a:r>
          </a:p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635818"/>
            <a:ext cx="1808162" cy="3297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1953250" y="5958408"/>
            <a:ext cx="7155254" cy="8995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cse101@lpu.co.in</a:t>
            </a:r>
            <a:endParaRPr lang="en-I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755576" y="4077072"/>
            <a:ext cx="705678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4114800"/>
            <a:ext cx="7155254" cy="1600200"/>
          </a:xfrm>
        </p:spPr>
        <p:txBody>
          <a:bodyPr anchor="t">
            <a:noAutofit/>
          </a:bodyPr>
          <a:lstStyle>
            <a:lvl1pPr algn="r">
              <a:defRPr/>
            </a:lvl1pPr>
          </a:lstStyle>
          <a:p>
            <a:pPr algn="r"/>
            <a:r>
              <a:rPr lang="en-US" sz="3600" dirty="0">
                <a:solidFill>
                  <a:srgbClr val="C00000"/>
                </a:solidFill>
              </a:rPr>
              <a:t>Next Class:</a:t>
            </a:r>
            <a:endParaRPr lang="en-IN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1406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19" y="0"/>
            <a:ext cx="9124950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19" y="0"/>
            <a:ext cx="9124950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19" y="0"/>
            <a:ext cx="9124950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 Placeholder 5"/>
          <p:cNvSpPr txBox="1">
            <a:spLocks/>
          </p:cNvSpPr>
          <p:nvPr/>
        </p:nvSpPr>
        <p:spPr>
          <a:xfrm>
            <a:off x="0" y="6553200"/>
            <a:ext cx="2743200" cy="38100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 Black" pitchFamily="34" charset="0"/>
              </a:defRPr>
            </a:lvl1pPr>
            <a:lvl2pPr>
              <a:defRPr sz="1200">
                <a:solidFill>
                  <a:schemeClr val="bg1">
                    <a:lumMod val="50000"/>
                  </a:schemeClr>
                </a:solidFill>
                <a:latin typeface="Arial Black" pitchFamily="34" charset="0"/>
              </a:defRPr>
            </a:lvl2pPr>
            <a:lvl3pPr>
              <a:defRPr sz="1200">
                <a:solidFill>
                  <a:schemeClr val="bg1">
                    <a:lumMod val="50000"/>
                  </a:schemeClr>
                </a:solidFill>
                <a:latin typeface="Arial Black" pitchFamily="34" charset="0"/>
              </a:defRPr>
            </a:lvl3pPr>
            <a:lvl4pPr>
              <a:defRPr sz="1200">
                <a:solidFill>
                  <a:schemeClr val="bg1">
                    <a:lumMod val="50000"/>
                  </a:schemeClr>
                </a:solidFill>
                <a:latin typeface="Arial Black" pitchFamily="34" charset="0"/>
              </a:defRPr>
            </a:lvl4pPr>
            <a:lvl5pPr>
              <a:defRPr sz="1200">
                <a:solidFill>
                  <a:schemeClr val="bg1">
                    <a:lumMod val="50000"/>
                  </a:schemeClr>
                </a:solidFill>
                <a:latin typeface="Arial Black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©LPU CSE101 C Programming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8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0.jpeg"/><Relationship Id="rId4" Type="http://schemas.openxmlformats.org/officeDocument/2006/relationships/image" Target="../media/image8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jpeg"/><Relationship Id="rId4" Type="http://schemas.openxmlformats.org/officeDocument/2006/relationships/image" Target="../media/image11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6.jpeg"/><Relationship Id="rId4" Type="http://schemas.openxmlformats.org/officeDocument/2006/relationships/image" Target="../media/image12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5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5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6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4.w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 txBox="1">
            <a:spLocks/>
          </p:cNvSpPr>
          <p:nvPr/>
        </p:nvSpPr>
        <p:spPr>
          <a:xfrm>
            <a:off x="0" y="2895600"/>
            <a:ext cx="9144000" cy="1752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i="1" dirty="0"/>
              <a:t>CONTROL STRUCTURES (REPETITION STRUCTURE)</a:t>
            </a:r>
          </a:p>
          <a:p>
            <a:pPr marL="0" indent="0" algn="ctr">
              <a:buNone/>
            </a:pPr>
            <a:r>
              <a:rPr lang="en-US" b="1" i="1" dirty="0"/>
              <a:t>JUMP STATEMENTS</a:t>
            </a:r>
          </a:p>
        </p:txBody>
      </p:sp>
    </p:spTree>
    <p:extLst>
      <p:ext uri="{BB962C8B-B14F-4D97-AF65-F5344CB8AC3E}">
        <p14:creationId xmlns:p14="http://schemas.microsoft.com/office/powerpoint/2010/main" val="4153228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Repetition structure/Control Loop Statements</a:t>
            </a:r>
          </a:p>
          <a:p>
            <a:pPr lvl="1"/>
            <a:r>
              <a:rPr lang="en-US" dirty="0"/>
              <a:t>for statement</a:t>
            </a:r>
          </a:p>
          <a:p>
            <a:pPr lvl="1"/>
            <a:r>
              <a:rPr lang="en-US" dirty="0"/>
              <a:t>while statement</a:t>
            </a:r>
          </a:p>
          <a:p>
            <a:pPr lvl="1"/>
            <a:r>
              <a:rPr lang="en-US" dirty="0"/>
              <a:t>do-while statement</a:t>
            </a:r>
          </a:p>
          <a:p>
            <a:r>
              <a:rPr lang="en-US" dirty="0"/>
              <a:t>Jump Statements</a:t>
            </a:r>
          </a:p>
          <a:p>
            <a:pPr lvl="1"/>
            <a:r>
              <a:rPr lang="en-US" dirty="0"/>
              <a:t>break</a:t>
            </a:r>
          </a:p>
          <a:p>
            <a:pPr lvl="1"/>
            <a:r>
              <a:rPr lang="en-US" dirty="0"/>
              <a:t>continue</a:t>
            </a:r>
          </a:p>
          <a:p>
            <a:pPr lvl="1"/>
            <a:r>
              <a:rPr lang="en-US" dirty="0" err="1"/>
              <a:t>goto</a:t>
            </a:r>
            <a:endParaRPr lang="en-US" dirty="0"/>
          </a:p>
          <a:p>
            <a:pPr lvl="1"/>
            <a:r>
              <a:rPr lang="en-US" dirty="0"/>
              <a:t>return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04800" y="457200"/>
            <a:ext cx="8915400" cy="457200"/>
          </a:xfrm>
        </p:spPr>
        <p:txBody>
          <a:bodyPr>
            <a:noAutofit/>
          </a:bodyPr>
          <a:lstStyle/>
          <a:p>
            <a:r>
              <a:rPr lang="en-IN" sz="3200" dirty="0"/>
              <a:t>Difference between if-else and switch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2481182"/>
              </p:ext>
            </p:extLst>
          </p:nvPr>
        </p:nvGraphicFramePr>
        <p:xfrm>
          <a:off x="1143000" y="914400"/>
          <a:ext cx="6629400" cy="5191661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6537">
                <a:tc>
                  <a:txBody>
                    <a:bodyPr/>
                    <a:lstStyle/>
                    <a:p>
                      <a:r>
                        <a:rPr lang="en-IN" sz="1400" b="1" dirty="0"/>
                        <a:t>Basis for Comparison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if-else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switch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189">
                <a:tc>
                  <a:txBody>
                    <a:bodyPr/>
                    <a:lstStyle/>
                    <a:p>
                      <a:r>
                        <a:rPr lang="en-IN" sz="1400" b="1" dirty="0"/>
                        <a:t>Basic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Which statement will be executed depend upon the output of the expression inside if statement.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Which statement will be executed is decided by user.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607">
                <a:tc>
                  <a:txBody>
                    <a:bodyPr/>
                    <a:lstStyle/>
                    <a:p>
                      <a:r>
                        <a:rPr lang="en-IN" sz="1400" b="1" dirty="0"/>
                        <a:t>Expression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if-else statement uses multiple statement for multiple choices.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switch statement uses single expression for multiple choices.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607">
                <a:tc>
                  <a:txBody>
                    <a:bodyPr/>
                    <a:lstStyle/>
                    <a:p>
                      <a:r>
                        <a:rPr lang="en-IN" sz="1400" b="1" dirty="0"/>
                        <a:t>Testing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if-else statement test for equality as well as for logical expression.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switch statement test only for equality.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1189">
                <a:tc>
                  <a:txBody>
                    <a:bodyPr/>
                    <a:lstStyle/>
                    <a:p>
                      <a:r>
                        <a:rPr lang="en-IN" sz="1400" b="1" dirty="0"/>
                        <a:t>Evaluation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if statement evaluates integer, character, pointer or floating-point type or boolean type.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switch statement evaluates only character or integer value.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6354">
                <a:tc>
                  <a:txBody>
                    <a:bodyPr/>
                    <a:lstStyle/>
                    <a:p>
                      <a:r>
                        <a:rPr lang="en-IN" sz="1400" b="1" dirty="0"/>
                        <a:t>Sequence of Execution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Either if statement will be executed or else statement is executed.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switch statement execute one case after another till a break statement is appeared or the end of switch statement is reached.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66354">
                <a:tc>
                  <a:txBody>
                    <a:bodyPr/>
                    <a:lstStyle/>
                    <a:p>
                      <a:r>
                        <a:rPr lang="en-IN" sz="1400" b="1" dirty="0"/>
                        <a:t>Default Execution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If the condition inside if statements is false, then by default the else statement is executed if created.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If the condition inside switch statements does not match with any of cases, for that instance the default statements is executed if created.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1189">
                <a:tc>
                  <a:txBody>
                    <a:bodyPr/>
                    <a:lstStyle/>
                    <a:p>
                      <a:r>
                        <a:rPr lang="en-IN" sz="1400" b="1" dirty="0"/>
                        <a:t>Editing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It is difficult to edit the if-else statement, if the nested if-else statement is used.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It is easy to edit switch cases as, they are recognized easily.</a:t>
                      </a:r>
                    </a:p>
                  </a:txBody>
                  <a:tcPr marL="44812" marR="44812" marT="22406" marB="224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76200" y="5943600"/>
            <a:ext cx="8955741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switch statement is easy to edit as it has created the separate cases for different statements whereas, in nested if-else statements it become difficult to identify the statements to be edited.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5421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Repetition(Going to School)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3581400" y="1213485"/>
            <a:ext cx="1981200" cy="5263516"/>
            <a:chOff x="3810000" y="2508802"/>
            <a:chExt cx="1981200" cy="5339798"/>
          </a:xfrm>
        </p:grpSpPr>
        <p:pic>
          <p:nvPicPr>
            <p:cNvPr id="19" name="Picture 1" descr="C:\Users\Aman\Pictures\C ppt pictures\Capture.JPG"/>
            <p:cNvPicPr>
              <a:picLocks noChangeAspect="1" noChangeArrowheads="1"/>
            </p:cNvPicPr>
            <p:nvPr/>
          </p:nvPicPr>
          <p:blipFill>
            <a:blip r:embed="rId2"/>
            <a:srcRect l="74257" r="990"/>
            <a:stretch>
              <a:fillRect/>
            </a:stretch>
          </p:blipFill>
          <p:spPr bwMode="auto">
            <a:xfrm>
              <a:off x="4059936" y="6897624"/>
              <a:ext cx="1485900" cy="950976"/>
            </a:xfrm>
            <a:prstGeom prst="rect">
              <a:avLst/>
            </a:prstGeom>
            <a:noFill/>
          </p:spPr>
        </p:pic>
        <p:pic>
          <p:nvPicPr>
            <p:cNvPr id="20" name="Picture 1" descr="C:\Users\Aman\Pictures\C ppt pictures\Capture.JPG"/>
            <p:cNvPicPr>
              <a:picLocks noChangeAspect="1" noChangeArrowheads="1"/>
            </p:cNvPicPr>
            <p:nvPr/>
          </p:nvPicPr>
          <p:blipFill>
            <a:blip r:embed="rId3"/>
            <a:srcRect l="49505" r="25742"/>
            <a:stretch>
              <a:fillRect/>
            </a:stretch>
          </p:blipFill>
          <p:spPr bwMode="auto">
            <a:xfrm>
              <a:off x="4059936" y="5830824"/>
              <a:ext cx="1485900" cy="798576"/>
            </a:xfrm>
            <a:prstGeom prst="rect">
              <a:avLst/>
            </a:prstGeom>
            <a:noFill/>
          </p:spPr>
        </p:pic>
        <p:pic>
          <p:nvPicPr>
            <p:cNvPr id="21" name="Picture 1" descr="C:\Users\Aman\Pictures\C ppt pictures\Capture.JPG"/>
            <p:cNvPicPr>
              <a:picLocks noChangeAspect="1" noChangeArrowheads="1"/>
            </p:cNvPicPr>
            <p:nvPr/>
          </p:nvPicPr>
          <p:blipFill>
            <a:blip r:embed="rId3"/>
            <a:srcRect l="24753" r="49505"/>
            <a:stretch>
              <a:fillRect/>
            </a:stretch>
          </p:blipFill>
          <p:spPr bwMode="auto">
            <a:xfrm>
              <a:off x="4038600" y="4803648"/>
              <a:ext cx="1545336" cy="798576"/>
            </a:xfrm>
            <a:prstGeom prst="rect">
              <a:avLst/>
            </a:prstGeom>
            <a:noFill/>
          </p:spPr>
        </p:pic>
        <p:pic>
          <p:nvPicPr>
            <p:cNvPr id="22" name="Picture 1" descr="C:\Users\Aman\Pictures\C ppt pictures\Capture.JPG"/>
            <p:cNvPicPr>
              <a:picLocks noChangeAspect="1" noChangeArrowheads="1"/>
            </p:cNvPicPr>
            <p:nvPr/>
          </p:nvPicPr>
          <p:blipFill>
            <a:blip r:embed="rId4"/>
            <a:srcRect l="990" r="74257"/>
            <a:stretch>
              <a:fillRect/>
            </a:stretch>
          </p:blipFill>
          <p:spPr bwMode="auto">
            <a:xfrm>
              <a:off x="4059936" y="3773424"/>
              <a:ext cx="1485900" cy="798576"/>
            </a:xfrm>
            <a:prstGeom prst="rect">
              <a:avLst/>
            </a:prstGeom>
            <a:noFill/>
          </p:spPr>
        </p:pic>
        <p:sp>
          <p:nvSpPr>
            <p:cNvPr id="23" name="Diamond 22"/>
            <p:cNvSpPr/>
            <p:nvPr/>
          </p:nvSpPr>
          <p:spPr>
            <a:xfrm>
              <a:off x="3810000" y="2508802"/>
              <a:ext cx="1981200" cy="933450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Day = Monday to Saturday</a:t>
              </a:r>
            </a:p>
          </p:txBody>
        </p:sp>
        <p:cxnSp>
          <p:nvCxnSpPr>
            <p:cNvPr id="24" name="Straight Arrow Connector 23"/>
            <p:cNvCxnSpPr>
              <a:stCxn id="22" idx="2"/>
              <a:endCxn id="21" idx="0"/>
            </p:cNvCxnSpPr>
            <p:nvPr/>
          </p:nvCxnSpPr>
          <p:spPr>
            <a:xfrm rot="16200000" flipH="1">
              <a:off x="4691253" y="4683633"/>
              <a:ext cx="231648" cy="838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21" idx="2"/>
              <a:endCxn id="20" idx="0"/>
            </p:cNvCxnSpPr>
            <p:nvPr/>
          </p:nvCxnSpPr>
          <p:spPr>
            <a:xfrm rot="5400000">
              <a:off x="4692777" y="5712333"/>
              <a:ext cx="228600" cy="838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65" name="Elbow Connector 64"/>
          <p:cNvCxnSpPr/>
          <p:nvPr/>
        </p:nvCxnSpPr>
        <p:spPr>
          <a:xfrm rot="10800000">
            <a:off x="3581400" y="1676400"/>
            <a:ext cx="76200" cy="2778442"/>
          </a:xfrm>
          <a:prstGeom prst="bentConnector3">
            <a:avLst>
              <a:gd name="adj1" fmla="val 1367164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20" idx="2"/>
            <a:endCxn id="19" idx="0"/>
          </p:cNvCxnSpPr>
          <p:nvPr/>
        </p:nvCxnSpPr>
        <p:spPr>
          <a:xfrm rot="5400000">
            <a:off x="4442090" y="5407413"/>
            <a:ext cx="26439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stCxn id="23" idx="2"/>
            <a:endCxn id="14" idx="0"/>
          </p:cNvCxnSpPr>
          <p:nvPr/>
        </p:nvCxnSpPr>
        <p:spPr>
          <a:xfrm rot="16200000" flipH="1">
            <a:off x="4476750" y="2228850"/>
            <a:ext cx="228600" cy="38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Flowchart: Process 13"/>
          <p:cNvSpPr/>
          <p:nvPr/>
        </p:nvSpPr>
        <p:spPr>
          <a:xfrm>
            <a:off x="3657600" y="2362200"/>
            <a:ext cx="1905000" cy="426720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Repetition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repetition statement </a:t>
            </a:r>
            <a:r>
              <a:rPr lang="en-US" dirty="0"/>
              <a:t>allows you to specify that an action is to be repeated while some condition remains true.</a:t>
            </a:r>
          </a:p>
        </p:txBody>
      </p:sp>
    </p:spTree>
    <p:extLst>
      <p:ext uri="{BB962C8B-B14F-4D97-AF65-F5344CB8AC3E}">
        <p14:creationId xmlns:p14="http://schemas.microsoft.com/office/powerpoint/2010/main" val="1524560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Looping (repetition)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What if we want to display hello 500 times?</a:t>
            </a:r>
          </a:p>
          <a:p>
            <a:pPr lvl="1"/>
            <a:r>
              <a:rPr lang="en-US" dirty="0"/>
              <a:t> Should we write 500 </a:t>
            </a:r>
            <a:r>
              <a:rPr lang="en-US" dirty="0" err="1"/>
              <a:t>printf</a:t>
            </a:r>
            <a:r>
              <a:rPr lang="en-US" dirty="0"/>
              <a:t> statements or equivalent ?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 Obviously not.</a:t>
            </a:r>
          </a:p>
          <a:p>
            <a:r>
              <a:rPr lang="en-US" dirty="0"/>
              <a:t> It means that we need some programming facility to repeat certain works.</a:t>
            </a:r>
          </a:p>
          <a:p>
            <a:r>
              <a:rPr lang="en-US" dirty="0"/>
              <a:t> Such facility is available in form of </a:t>
            </a:r>
            <a:r>
              <a:rPr lang="en-US" b="1" i="1" dirty="0"/>
              <a:t>looping statements.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4731656" y="1143000"/>
            <a:ext cx="3955144" cy="4038600"/>
            <a:chOff x="4731657" y="1143000"/>
            <a:chExt cx="3276600" cy="3276600"/>
          </a:xfrm>
        </p:grpSpPr>
        <p:pic>
          <p:nvPicPr>
            <p:cNvPr id="5" name="Picture 2" descr="http://alternatewrites.com/wp-content/uploads/2012/06/post-it-note-with-a-pin-300x300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31657" y="1143000"/>
              <a:ext cx="3276600" cy="3276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/>
            <p:cNvSpPr txBox="1"/>
            <p:nvPr/>
          </p:nvSpPr>
          <p:spPr>
            <a:xfrm rot="21303997">
              <a:off x="5303157" y="1724318"/>
              <a:ext cx="2133600" cy="24615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  <a:latin typeface="Bradley Hand ITC" panose="03070402050302030203" pitchFamily="66" charset="0"/>
                </a:rPr>
                <a:t>Quick yak:</a:t>
              </a:r>
            </a:p>
            <a:p>
              <a:r>
                <a:rPr lang="en-US" b="1" dirty="0">
                  <a:latin typeface="Bradley Hand ITC" panose="03070402050302030203" pitchFamily="66" charset="0"/>
                </a:rPr>
                <a:t>Share that if one might have known this earlier: How easy it might have been to undergo the punishment of writing 100 times</a:t>
              </a:r>
            </a:p>
            <a:p>
              <a:r>
                <a:rPr lang="en-US" b="1" dirty="0">
                  <a:latin typeface="Bradley Hand ITC" panose="03070402050302030203" pitchFamily="66" charset="0"/>
                </a:rPr>
                <a:t>“</a:t>
              </a:r>
              <a:r>
                <a:rPr lang="en-US" b="1" dirty="0">
                  <a:solidFill>
                    <a:srgbClr val="FF0000"/>
                  </a:solidFill>
                  <a:latin typeface="Bradley Hand ITC" panose="03070402050302030203" pitchFamily="66" charset="0"/>
                </a:rPr>
                <a:t>I will not talk in class</a:t>
              </a:r>
              <a:r>
                <a:rPr lang="en-US" b="1" dirty="0">
                  <a:latin typeface="Bradley Hand ITC" panose="03070402050302030203" pitchFamily="66" charset="0"/>
                </a:rPr>
                <a:t>” in school.</a:t>
              </a:r>
              <a:endParaRPr lang="en-IN" b="1" dirty="0">
                <a:latin typeface="Bradley Hand ITC" panose="03070402050302030203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6761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5" name="Text Box 3"/>
          <p:cNvSpPr txBox="1">
            <a:spLocks noChangeArrowheads="1"/>
          </p:cNvSpPr>
          <p:nvPr/>
        </p:nvSpPr>
        <p:spPr bwMode="auto">
          <a:xfrm>
            <a:off x="3109423" y="5757446"/>
            <a:ext cx="390097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1600" b="1" dirty="0"/>
              <a:t>The concept of a loop without condition</a:t>
            </a:r>
          </a:p>
        </p:txBody>
      </p:sp>
      <p:sp>
        <p:nvSpPr>
          <p:cNvPr id="136197" name="Rectangle 5"/>
          <p:cNvSpPr>
            <a:spLocks noChangeArrowheads="1"/>
          </p:cNvSpPr>
          <p:nvPr/>
        </p:nvSpPr>
        <p:spPr bwMode="auto">
          <a:xfrm>
            <a:off x="457200" y="1600200"/>
            <a:ext cx="8229600" cy="13970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just">
              <a:spcBef>
                <a:spcPct val="20000"/>
              </a:spcBef>
              <a:buFontTx/>
              <a:buChar char="•"/>
            </a:pPr>
            <a:r>
              <a:rPr lang="en-US" sz="3200" dirty="0">
                <a:solidFill>
                  <a:schemeClr val="accent1"/>
                </a:solidFill>
              </a:rPr>
              <a:t>The main idea of a loop is to repeat an action or a series of actions.</a:t>
            </a:r>
          </a:p>
          <a:p>
            <a:pPr marL="342900" indent="-342900" algn="just">
              <a:spcBef>
                <a:spcPct val="20000"/>
              </a:spcBef>
            </a:pPr>
            <a:endParaRPr lang="en-US" sz="3200" dirty="0">
              <a:solidFill>
                <a:schemeClr val="accent1"/>
              </a:solidFill>
            </a:endParaRPr>
          </a:p>
        </p:txBody>
      </p:sp>
      <p:pic>
        <p:nvPicPr>
          <p:cNvPr id="136198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0" y="2743200"/>
            <a:ext cx="3962400" cy="2922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</a:t>
            </a:r>
          </a:p>
        </p:txBody>
      </p:sp>
    </p:spTree>
    <p:extLst>
      <p:ext uri="{BB962C8B-B14F-4D97-AF65-F5344CB8AC3E}">
        <p14:creationId xmlns:p14="http://schemas.microsoft.com/office/powerpoint/2010/main" val="3248225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1" name="Rectangle 3"/>
          <p:cNvSpPr>
            <a:spLocks noChangeArrowheads="1"/>
          </p:cNvSpPr>
          <p:nvPr/>
        </p:nvSpPr>
        <p:spPr bwMode="auto">
          <a:xfrm>
            <a:off x="762000" y="10160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 sz="3600" dirty="0">
              <a:solidFill>
                <a:schemeClr val="tx2"/>
              </a:solidFill>
            </a:endParaRPr>
          </a:p>
        </p:txBody>
      </p:sp>
      <p:sp>
        <p:nvSpPr>
          <p:cNvPr id="165892" name="Rectangle 4"/>
          <p:cNvSpPr>
            <a:spLocks noChangeArrowheads="1"/>
          </p:cNvSpPr>
          <p:nvPr/>
        </p:nvSpPr>
        <p:spPr bwMode="auto">
          <a:xfrm>
            <a:off x="457200" y="1600200"/>
            <a:ext cx="7924800" cy="28194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20000"/>
              </a:spcBef>
              <a:buFontTx/>
              <a:buChar char="•"/>
            </a:pPr>
            <a:r>
              <a:rPr lang="en-US" sz="2800" dirty="0">
                <a:solidFill>
                  <a:schemeClr val="accent1"/>
                </a:solidFill>
              </a:rPr>
              <a:t>But, when to stop looping? </a:t>
            </a:r>
          </a:p>
          <a:p>
            <a:pPr marL="342900" indent="-342900" algn="l">
              <a:spcBef>
                <a:spcPct val="20000"/>
              </a:spcBef>
              <a:buFontTx/>
              <a:buChar char="•"/>
            </a:pPr>
            <a:r>
              <a:rPr lang="en-US" sz="2800" dirty="0">
                <a:solidFill>
                  <a:schemeClr val="accent1"/>
                </a:solidFill>
              </a:rPr>
              <a:t>In the following flowchart, the action is executed over and over again. It never stops – This is called an </a:t>
            </a:r>
            <a:r>
              <a:rPr lang="en-US" sz="2800" dirty="0">
                <a:solidFill>
                  <a:srgbClr val="FF0000"/>
                </a:solidFill>
              </a:rPr>
              <a:t>infinite loop</a:t>
            </a:r>
          </a:p>
          <a:p>
            <a:pPr marL="342900" indent="-342900" algn="l">
              <a:spcBef>
                <a:spcPct val="20000"/>
              </a:spcBef>
              <a:buFontTx/>
              <a:buChar char="•"/>
            </a:pPr>
            <a:r>
              <a:rPr lang="en-US" sz="2800" b="1" dirty="0">
                <a:solidFill>
                  <a:schemeClr val="accent1"/>
                </a:solidFill>
              </a:rPr>
              <a:t>Solution</a:t>
            </a:r>
            <a:r>
              <a:rPr lang="en-US" sz="2800" dirty="0">
                <a:solidFill>
                  <a:schemeClr val="accent1"/>
                </a:solidFill>
              </a:rPr>
              <a:t> – put a condition to tell the loop either continue looping or stop.</a:t>
            </a:r>
          </a:p>
          <a:p>
            <a:pPr marL="342900" indent="-342900" algn="l">
              <a:spcBef>
                <a:spcPct val="20000"/>
              </a:spcBef>
            </a:pPr>
            <a:endParaRPr lang="en-US" sz="2800" dirty="0">
              <a:solidFill>
                <a:schemeClr val="accent1"/>
              </a:solidFill>
            </a:endParaRPr>
          </a:p>
        </p:txBody>
      </p:sp>
      <p:pic>
        <p:nvPicPr>
          <p:cNvPr id="16589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24400" y="4038600"/>
            <a:ext cx="39624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5" name="Group 4"/>
          <p:cNvGrpSpPr/>
          <p:nvPr/>
        </p:nvGrpSpPr>
        <p:grpSpPr>
          <a:xfrm>
            <a:off x="4731656" y="1143000"/>
            <a:ext cx="3955144" cy="4038600"/>
            <a:chOff x="4731657" y="1143000"/>
            <a:chExt cx="3276600" cy="3276600"/>
          </a:xfrm>
        </p:grpSpPr>
        <p:pic>
          <p:nvPicPr>
            <p:cNvPr id="6" name="Picture 2" descr="http://alternatewrites.com/wp-content/uploads/2012/06/post-it-note-with-a-pin-300x300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31657" y="1143000"/>
              <a:ext cx="3276600" cy="3276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/>
            <p:cNvSpPr txBox="1"/>
            <p:nvPr/>
          </p:nvSpPr>
          <p:spPr>
            <a:xfrm rot="21303997">
              <a:off x="5303157" y="2018723"/>
              <a:ext cx="2133600" cy="18727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  <a:latin typeface="Bradley Hand ITC" panose="03070402050302030203" pitchFamily="66" charset="0"/>
                </a:rPr>
                <a:t>Quick yak:</a:t>
              </a:r>
            </a:p>
            <a:p>
              <a:r>
                <a:rPr lang="en-US" b="1" dirty="0">
                  <a:latin typeface="Bradley Hand ITC" panose="03070402050302030203" pitchFamily="66" charset="0"/>
                </a:rPr>
                <a:t>Condition specific eject can enumerated as: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latin typeface="Bradley Hand ITC" panose="03070402050302030203" pitchFamily="66" charset="0"/>
                </a:rPr>
                <a:t>Stop walking if destination is reached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latin typeface="Bradley Hand ITC" panose="03070402050302030203" pitchFamily="66" charset="0"/>
                </a:rPr>
                <a:t>Start rinsing after said repetition of brush movements</a:t>
              </a:r>
              <a:endParaRPr lang="en-IN" b="1" dirty="0">
                <a:latin typeface="Bradley Hand ITC" panose="03070402050302030203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57549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22" name="Rectangle 10"/>
          <p:cNvSpPr>
            <a:spLocks noChangeArrowheads="1"/>
          </p:cNvSpPr>
          <p:nvPr/>
        </p:nvSpPr>
        <p:spPr bwMode="auto">
          <a:xfrm>
            <a:off x="4648200" y="1600200"/>
            <a:ext cx="3581400" cy="41148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IN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sz="half" idx="1"/>
          </p:nvPr>
        </p:nvSpPr>
        <p:spPr bwMode="auto">
          <a:solidFill>
            <a:srgbClr val="FFFFFF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800" dirty="0"/>
              <a:t>A loop has two parts – 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body</a:t>
            </a:r>
            <a:r>
              <a:rPr lang="en-US" sz="2800" dirty="0"/>
              <a:t>  and 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condition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2800" dirty="0">
              <a:solidFill>
                <a:schemeClr val="accent2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Body</a:t>
            </a:r>
            <a:r>
              <a:rPr lang="en-US" sz="2800" dirty="0">
                <a:solidFill>
                  <a:schemeClr val="accent2"/>
                </a:solidFill>
              </a:rPr>
              <a:t> </a:t>
            </a:r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–</a:t>
            </a:r>
            <a:r>
              <a:rPr lang="en-US" sz="2800" dirty="0">
                <a:solidFill>
                  <a:schemeClr val="accent2"/>
                </a:solidFill>
              </a:rPr>
              <a:t> </a:t>
            </a:r>
            <a:r>
              <a:rPr lang="en-US" sz="2800" dirty="0"/>
              <a:t>a statement or a block of statements that will be repeated.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2800" dirty="0">
              <a:solidFill>
                <a:schemeClr val="accent2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Condition</a:t>
            </a:r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 – </a:t>
            </a:r>
            <a:r>
              <a:rPr lang="en-US" sz="2800" dirty="0"/>
              <a:t>is used to control the iteration – either to continue or stop iterating.</a:t>
            </a: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None/>
            </a:pPr>
            <a:endParaRPr lang="en-US" sz="2800" dirty="0"/>
          </a:p>
          <a:p>
            <a:pPr>
              <a:lnSpc>
                <a:spcPct val="120000"/>
              </a:lnSpc>
              <a:spcBef>
                <a:spcPts val="0"/>
              </a:spcBef>
              <a:buFontTx/>
              <a:buNone/>
            </a:pPr>
            <a:endParaRPr lang="en-US" sz="2800" dirty="0"/>
          </a:p>
        </p:txBody>
      </p:sp>
      <p:graphicFrame>
        <p:nvGraphicFramePr>
          <p:cNvPr id="1121" name="Object 97"/>
          <p:cNvGraphicFramePr>
            <a:graphicFrameLocks noChangeAspect="1"/>
          </p:cNvGraphicFramePr>
          <p:nvPr/>
        </p:nvGraphicFramePr>
        <p:xfrm>
          <a:off x="4667250" y="1600200"/>
          <a:ext cx="3638550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2" name="Visio" r:id="rId3" imgW="1779191" imgH="2204673" progId="">
                  <p:embed/>
                </p:oleObj>
              </mc:Choice>
              <mc:Fallback>
                <p:oleObj name="Visio" r:id="rId3" imgW="1779191" imgH="2204673" progId="">
                  <p:embed/>
                  <p:pic>
                    <p:nvPicPr>
                      <p:cNvPr id="0" name="Picture 1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250" y="1600200"/>
                        <a:ext cx="3638550" cy="403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51127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statements</a:t>
            </a:r>
          </a:p>
        </p:txBody>
      </p:sp>
      <p:sp>
        <p:nvSpPr>
          <p:cNvPr id="172035" name="Rectangle 3"/>
          <p:cNvSpPr>
            <a:spLocks noGrp="1" noChangeArrowheads="1"/>
          </p:cNvSpPr>
          <p:nvPr>
            <p:ph idx="1"/>
          </p:nvPr>
        </p:nvSpPr>
        <p:spPr bwMode="auto">
          <a:solidFill>
            <a:srgbClr val="FFFFFF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sz="2800" dirty="0"/>
              <a:t>C provides three loop statements:</a:t>
            </a:r>
          </a:p>
          <a:p>
            <a:endParaRPr lang="en-US" sz="2800" dirty="0">
              <a:solidFill>
                <a:schemeClr val="accent2"/>
              </a:solidFill>
            </a:endParaRPr>
          </a:p>
          <a:p>
            <a:pPr>
              <a:buFontTx/>
              <a:buNone/>
            </a:pPr>
            <a:endParaRPr lang="en-US" sz="2800" dirty="0"/>
          </a:p>
          <a:p>
            <a:pPr>
              <a:buFontTx/>
              <a:buNone/>
            </a:pPr>
            <a:endParaRPr lang="en-US" sz="2800" dirty="0"/>
          </a:p>
        </p:txBody>
      </p:sp>
      <p:pic>
        <p:nvPicPr>
          <p:cNvPr id="172048" name="Picture 1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590800"/>
            <a:ext cx="7467600" cy="323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7843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884238"/>
          </a:xfrm>
        </p:spPr>
        <p:txBody>
          <a:bodyPr/>
          <a:lstStyle/>
          <a:p>
            <a:pPr eaLnBrk="1" hangingPunct="1"/>
            <a:r>
              <a:rPr lang="en-US" altLang="zh-TW" dirty="0">
                <a:ea typeface="新細明體" charset="-120"/>
              </a:rPr>
              <a:t>The “</a:t>
            </a:r>
            <a:r>
              <a:rPr lang="en-US" altLang="zh-TW" dirty="0">
                <a:latin typeface="Courier New" pitchFamily="49" charset="0"/>
                <a:ea typeface="新細明體" charset="-120"/>
                <a:cs typeface="Courier New" pitchFamily="49" charset="0"/>
              </a:rPr>
              <a:t>while</a:t>
            </a:r>
            <a:r>
              <a:rPr lang="en-US" altLang="zh-TW" dirty="0">
                <a:ea typeface="新細明體" charset="-120"/>
              </a:rPr>
              <a:t>” Statement in C</a:t>
            </a:r>
          </a:p>
        </p:txBody>
      </p:sp>
      <p:sp>
        <p:nvSpPr>
          <p:cNvPr id="59494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524000"/>
            <a:ext cx="8534400" cy="50006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zh-TW" sz="2800" dirty="0"/>
              <a:t>The syntax of </a:t>
            </a:r>
            <a:r>
              <a:rPr lang="en-US" altLang="zh-TW" sz="2800" b="1" dirty="0"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altLang="zh-TW" sz="2800" dirty="0"/>
              <a:t> statement in C: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altLang="zh-TW" sz="2800" dirty="0"/>
              <a:t>	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endParaRPr lang="en-US" altLang="zh-TW" sz="2800" dirty="0"/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endParaRPr lang="en-US" altLang="zh-TW" sz="2800" dirty="0"/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endParaRPr lang="en-US" altLang="zh-TW" sz="2800" dirty="0"/>
          </a:p>
        </p:txBody>
      </p:sp>
      <p:grpSp>
        <p:nvGrpSpPr>
          <p:cNvPr id="6" name="Group 5"/>
          <p:cNvGrpSpPr/>
          <p:nvPr/>
        </p:nvGrpSpPr>
        <p:grpSpPr>
          <a:xfrm>
            <a:off x="152400" y="2133600"/>
            <a:ext cx="5029200" cy="2057400"/>
            <a:chOff x="1147762" y="1981200"/>
            <a:chExt cx="5029200" cy="1905000"/>
          </a:xfrm>
        </p:grpSpPr>
        <p:sp>
          <p:nvSpPr>
            <p:cNvPr id="4" name="Vertical Scroll 3"/>
            <p:cNvSpPr/>
            <p:nvPr/>
          </p:nvSpPr>
          <p:spPr>
            <a:xfrm>
              <a:off x="1147762" y="1981200"/>
              <a:ext cx="5029200" cy="1905000"/>
            </a:xfrm>
            <a:prstGeom prst="verticalScroll">
              <a:avLst>
                <a:gd name="adj" fmla="val 18730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>
                <a:defRPr/>
              </a:pPr>
              <a:endParaRPr lang="en-US" altLang="zh-TW" sz="200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endParaRPr>
            </a:p>
            <a:p>
              <a:pPr>
                <a:defRPr/>
              </a:pPr>
              <a:r>
                <a:rPr lang="en-US" altLang="zh-TW" sz="2000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while </a:t>
              </a:r>
              <a:r>
                <a:rPr lang="en-US" altLang="zh-TW" sz="2000" dirty="0">
                  <a:solidFill>
                    <a:srgbClr val="C00000"/>
                  </a:solidFill>
                  <a:cs typeface="Courier New" pitchFamily="49" charset="0"/>
                </a:rPr>
                <a:t>(loop repetition condition){</a:t>
              </a:r>
            </a:p>
            <a:p>
              <a:pPr>
                <a:defRPr/>
              </a:pPr>
              <a:r>
                <a:rPr lang="en-US" altLang="zh-TW" sz="2000" dirty="0">
                  <a:solidFill>
                    <a:srgbClr val="C00000"/>
                  </a:solidFill>
                  <a:cs typeface="Courier New" pitchFamily="49" charset="0"/>
                </a:rPr>
                <a:t>    statement;</a:t>
              </a:r>
            </a:p>
            <a:p>
              <a:pPr>
                <a:defRPr/>
              </a:pPr>
              <a:r>
                <a:rPr lang="en-US" altLang="zh-TW" sz="2000" dirty="0">
                  <a:solidFill>
                    <a:srgbClr val="C00000"/>
                  </a:solidFill>
                  <a:cs typeface="Courier New" pitchFamily="49" charset="0"/>
                </a:rPr>
                <a:t>    updating control; </a:t>
              </a:r>
            </a:p>
            <a:p>
              <a:r>
                <a:rPr lang="en-US" dirty="0">
                  <a:solidFill>
                    <a:srgbClr val="C00000"/>
                  </a:solidFill>
                  <a:cs typeface="Courier New" pitchFamily="49" charset="0"/>
                </a:rPr>
                <a:t>}</a:t>
              </a:r>
            </a:p>
            <a:p>
              <a:pPr algn="ctr"/>
              <a:endParaRPr lang="en-US" dirty="0">
                <a:solidFill>
                  <a:srgbClr val="C00000"/>
                </a:solidFill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819400" y="1981200"/>
              <a:ext cx="1447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Syntax</a:t>
              </a:r>
            </a:p>
          </p:txBody>
        </p:sp>
      </p:grp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5257800" y="2133600"/>
            <a:ext cx="3581400" cy="39624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IN"/>
          </a:p>
        </p:txBody>
      </p:sp>
      <p:graphicFrame>
        <p:nvGraphicFramePr>
          <p:cNvPr id="8" name="Object 13"/>
          <p:cNvGraphicFramePr>
            <a:graphicFrameLocks noChangeAspect="1"/>
          </p:cNvGraphicFramePr>
          <p:nvPr/>
        </p:nvGraphicFramePr>
        <p:xfrm>
          <a:off x="5181600" y="2057400"/>
          <a:ext cx="3638550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6" name="Visio" r:id="rId3" imgW="1779191" imgH="2204673" progId="">
                  <p:embed/>
                </p:oleObj>
              </mc:Choice>
              <mc:Fallback>
                <p:oleObj name="Visio" r:id="rId3" imgW="1779191" imgH="2204673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057400"/>
                        <a:ext cx="3638550" cy="403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5" descr="http://www.illustration.com.au/images/web/How-to-do-Push-ups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43400"/>
            <a:ext cx="373380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2514600" y="5525869"/>
            <a:ext cx="2590800" cy="646331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While fatigue level is not reached</a:t>
            </a:r>
          </a:p>
        </p:txBody>
      </p:sp>
    </p:spTree>
    <p:extLst>
      <p:ext uri="{BB962C8B-B14F-4D97-AF65-F5344CB8AC3E}">
        <p14:creationId xmlns:p14="http://schemas.microsoft.com/office/powerpoint/2010/main" val="3049908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147255000"/>
    </mc:Choice>
    <mc:Fallback xmlns="">
      <p:transition spd="slow" advClick="0" advTm="214725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68" name="Text Box 12"/>
          <p:cNvSpPr txBox="1">
            <a:spLocks noChangeArrowheads="1"/>
          </p:cNvSpPr>
          <p:nvPr/>
        </p:nvSpPr>
        <p:spPr bwMode="auto">
          <a:xfrm>
            <a:off x="457200" y="1600200"/>
            <a:ext cx="5181600" cy="136652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US" b="1" dirty="0">
                <a:solidFill>
                  <a:srgbClr val="FF0000"/>
                </a:solidFill>
                <a:latin typeface="Courier New" pitchFamily="1" charset="0"/>
              </a:rPr>
              <a:t>while(</a:t>
            </a:r>
            <a:r>
              <a:rPr lang="en-US" b="1" dirty="0">
                <a:latin typeface="Courier New" pitchFamily="1" charset="0"/>
              </a:rPr>
              <a:t>loop repetition condition</a:t>
            </a:r>
            <a:r>
              <a:rPr lang="en-US" b="1" dirty="0">
                <a:solidFill>
                  <a:srgbClr val="FF0000"/>
                </a:solidFill>
                <a:latin typeface="Courier New" pitchFamily="1" charset="0"/>
              </a:rPr>
              <a:t>)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b="1" dirty="0">
                <a:latin typeface="Courier New" pitchFamily="1" charset="0"/>
              </a:rPr>
              <a:t>{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b="1" dirty="0">
                <a:latin typeface="Courier New" pitchFamily="1" charset="0"/>
              </a:rPr>
              <a:t>  Statements;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b="1" dirty="0">
                <a:latin typeface="Courier New" pitchFamily="1" charset="0"/>
              </a:rPr>
              <a:t>}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dirty="0"/>
              <a:t>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418344"/>
            <a:ext cx="7696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altLang="zh-TW" sz="2800" b="1" dirty="0">
                <a:solidFill>
                  <a:schemeClr val="accent1"/>
                </a:solidFill>
              </a:rPr>
              <a:t>Loop repetition condition </a:t>
            </a:r>
            <a:r>
              <a:rPr lang="en-US" altLang="zh-TW" sz="2800" dirty="0">
                <a:solidFill>
                  <a:schemeClr val="accent1"/>
                </a:solidFill>
              </a:rPr>
              <a:t>is the condition which controls the loop.</a:t>
            </a:r>
          </a:p>
          <a:p>
            <a:pPr algn="just">
              <a:buFont typeface="Arial" pitchFamily="34" charset="0"/>
              <a:buChar char="•"/>
              <a:defRPr/>
            </a:pPr>
            <a:r>
              <a:rPr lang="en-US" altLang="zh-TW" sz="2800" dirty="0">
                <a:solidFill>
                  <a:schemeClr val="accent1"/>
                </a:solidFill>
              </a:rPr>
              <a:t>The </a:t>
            </a:r>
            <a:r>
              <a:rPr lang="en-US" altLang="zh-TW" sz="2800" b="1" i="1" dirty="0">
                <a:solidFill>
                  <a:schemeClr val="accent1"/>
                </a:solidFill>
              </a:rPr>
              <a:t>statement</a:t>
            </a:r>
            <a:r>
              <a:rPr lang="en-US" altLang="zh-TW" sz="2800" dirty="0">
                <a:solidFill>
                  <a:schemeClr val="accent1"/>
                </a:solidFill>
              </a:rPr>
              <a:t> is repeated as long as the loop repetition condition is </a:t>
            </a:r>
            <a:r>
              <a:rPr lang="en-US" altLang="zh-TW" sz="2800" b="1" dirty="0">
                <a:solidFill>
                  <a:schemeClr val="accent1"/>
                </a:solidFill>
              </a:rPr>
              <a:t>true</a:t>
            </a:r>
            <a:r>
              <a:rPr lang="en-US" altLang="zh-TW" sz="2800" dirty="0">
                <a:solidFill>
                  <a:schemeClr val="accent1"/>
                </a:solidFill>
              </a:rPr>
              <a:t>.</a:t>
            </a:r>
          </a:p>
          <a:p>
            <a:pPr algn="just">
              <a:buFont typeface="Arial" pitchFamily="34" charset="0"/>
              <a:buChar char="•"/>
              <a:defRPr/>
            </a:pPr>
            <a:r>
              <a:rPr lang="en-US" altLang="zh-TW" sz="2800" dirty="0">
                <a:solidFill>
                  <a:schemeClr val="accent1"/>
                </a:solidFill>
              </a:rPr>
              <a:t>A loop is called an </a:t>
            </a:r>
            <a:r>
              <a:rPr lang="en-US" altLang="zh-TW" sz="2800" b="1" dirty="0">
                <a:solidFill>
                  <a:schemeClr val="accent1"/>
                </a:solidFill>
              </a:rPr>
              <a:t>infinite loop</a:t>
            </a:r>
            <a:r>
              <a:rPr lang="en-US" altLang="zh-TW" sz="2800" dirty="0">
                <a:solidFill>
                  <a:schemeClr val="accent1"/>
                </a:solidFill>
              </a:rPr>
              <a:t> if the loop repetition condition is always true.</a:t>
            </a:r>
          </a:p>
        </p:txBody>
      </p:sp>
    </p:spTree>
    <p:extLst>
      <p:ext uri="{BB962C8B-B14F-4D97-AF65-F5344CB8AC3E}">
        <p14:creationId xmlns:p14="http://schemas.microsoft.com/office/powerpoint/2010/main" val="3514374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7"/>
          <p:cNvSpPr txBox="1">
            <a:spLocks noChangeArrowheads="1"/>
          </p:cNvSpPr>
          <p:nvPr/>
        </p:nvSpPr>
        <p:spPr bwMode="auto">
          <a:xfrm>
            <a:off x="892791" y="1756012"/>
            <a:ext cx="8229600" cy="4525963"/>
          </a:xfrm>
          <a:prstGeom prst="rect">
            <a:avLst/>
          </a:prstGeom>
          <a:solidFill>
            <a:srgbClr val="FFFFFF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sz="2000" b="1"/>
              <a:t>Example: </a:t>
            </a:r>
            <a:r>
              <a:rPr lang="en-US" sz="2000"/>
              <a:t>This while statement prints numbers 10 down to 1</a:t>
            </a:r>
            <a:endParaRPr lang="en-US" sz="2000" dirty="0"/>
          </a:p>
        </p:txBody>
      </p:sp>
      <p:grpSp>
        <p:nvGrpSpPr>
          <p:cNvPr id="5" name="Group 4"/>
          <p:cNvGrpSpPr/>
          <p:nvPr/>
        </p:nvGrpSpPr>
        <p:grpSpPr>
          <a:xfrm>
            <a:off x="304800" y="2144173"/>
            <a:ext cx="6896100" cy="3494627"/>
            <a:chOff x="2019300" y="3048000"/>
            <a:chExt cx="6896100" cy="3494627"/>
          </a:xfrm>
        </p:grpSpPr>
        <p:pic>
          <p:nvPicPr>
            <p:cNvPr id="6" name="Picture 92" descr="http://www.illustration.com.au/images/web/How-to-do-Push-ups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4900" y="3048000"/>
              <a:ext cx="4000500" cy="32504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/>
            <p:cNvSpPr txBox="1"/>
            <p:nvPr/>
          </p:nvSpPr>
          <p:spPr>
            <a:xfrm>
              <a:off x="2019300" y="5896296"/>
              <a:ext cx="2895600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Do TEN push ups imposes a count condition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080649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pitchFamily="1" charset="0"/>
              </a:rPr>
              <a:t>while</a:t>
            </a:r>
            <a:r>
              <a:rPr lang="en-US" dirty="0">
                <a:latin typeface="Trebuchet MS" pitchFamily="34" charset="0"/>
              </a:rPr>
              <a:t> statement</a:t>
            </a:r>
            <a:endParaRPr lang="en-US" dirty="0"/>
          </a:p>
        </p:txBody>
      </p:sp>
      <p:sp>
        <p:nvSpPr>
          <p:cNvPr id="177154" name="Rectangle 2"/>
          <p:cNvSpPr>
            <a:spLocks noChangeArrowheads="1"/>
          </p:cNvSpPr>
          <p:nvPr/>
        </p:nvSpPr>
        <p:spPr bwMode="auto">
          <a:xfrm>
            <a:off x="4953000" y="1981200"/>
            <a:ext cx="3962400" cy="46482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IN"/>
          </a:p>
        </p:txBody>
      </p:sp>
      <p:sp>
        <p:nvSpPr>
          <p:cNvPr id="177157" name="Text Box 5"/>
          <p:cNvSpPr txBox="1">
            <a:spLocks noChangeArrowheads="1"/>
          </p:cNvSpPr>
          <p:nvPr/>
        </p:nvSpPr>
        <p:spPr bwMode="auto">
          <a:xfrm>
            <a:off x="0" y="1981200"/>
            <a:ext cx="4572000" cy="302852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eaLnBrk="0" hangingPunct="0">
              <a:spcBef>
                <a:spcPct val="20000"/>
              </a:spcBef>
            </a:pPr>
            <a:r>
              <a:rPr lang="en-US" b="1" dirty="0">
                <a:latin typeface="Courier New" pitchFamily="1" charset="0"/>
              </a:rPr>
              <a:t>#include&lt;stdio.h&gt;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b="1" dirty="0">
                <a:latin typeface="Courier New" pitchFamily="1" charset="0"/>
              </a:rPr>
              <a:t>int main()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b="1" dirty="0">
                <a:latin typeface="Courier New" pitchFamily="1" charset="0"/>
              </a:rPr>
              <a:t>{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b="1" dirty="0">
                <a:latin typeface="Courier New" pitchFamily="1" charset="0"/>
              </a:rPr>
              <a:t> int n=10;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b="1" dirty="0">
                <a:latin typeface="Courier New" pitchFamily="1" charset="0"/>
              </a:rPr>
              <a:t> while (n&gt;0){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b="1" dirty="0">
                <a:latin typeface="Courier New" pitchFamily="1" charset="0"/>
              </a:rPr>
              <a:t>  printf(“%d ”, n);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b="1" dirty="0">
                <a:latin typeface="Courier New" pitchFamily="1" charset="0"/>
              </a:rPr>
              <a:t>  n=n-1;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b="1" dirty="0">
                <a:latin typeface="Courier New" pitchFamily="1" charset="0"/>
              </a:rPr>
              <a:t> }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b="1" dirty="0">
                <a:latin typeface="Courier New" pitchFamily="1" charset="0"/>
              </a:rPr>
              <a:t>}</a:t>
            </a:r>
            <a:endParaRPr lang="en-US" dirty="0">
              <a:latin typeface="Courier New" pitchFamily="1" charset="0"/>
            </a:endParaRPr>
          </a:p>
        </p:txBody>
      </p:sp>
      <p:graphicFrame>
        <p:nvGraphicFramePr>
          <p:cNvPr id="177162" name="Object 10"/>
          <p:cNvGraphicFramePr>
            <a:graphicFrameLocks noChangeAspect="1"/>
          </p:cNvGraphicFramePr>
          <p:nvPr/>
        </p:nvGraphicFramePr>
        <p:xfrm>
          <a:off x="4953000" y="1905000"/>
          <a:ext cx="3962400" cy="480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" name="VISIO" r:id="rId3" imgW="2082462" imgH="3498112" progId="">
                  <p:embed/>
                </p:oleObj>
              </mc:Choice>
              <mc:Fallback>
                <p:oleObj name="VISIO" r:id="rId3" imgW="2082462" imgH="3498112" progId="">
                  <p:embed/>
                  <p:pic>
                    <p:nvPicPr>
                      <p:cNvPr id="0" name="Picture 1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905000"/>
                        <a:ext cx="3962400" cy="480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163" name="Rectangle 11"/>
          <p:cNvSpPr>
            <a:spLocks noChangeArrowheads="1"/>
          </p:cNvSpPr>
          <p:nvPr/>
        </p:nvSpPr>
        <p:spPr bwMode="auto">
          <a:xfrm>
            <a:off x="5486400" y="3048000"/>
            <a:ext cx="3048000" cy="3505200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sp>
        <p:nvSpPr>
          <p:cNvPr id="177164" name="Text Box 12"/>
          <p:cNvSpPr txBox="1">
            <a:spLocks noChangeArrowheads="1"/>
          </p:cNvSpPr>
          <p:nvPr/>
        </p:nvSpPr>
        <p:spPr bwMode="auto">
          <a:xfrm>
            <a:off x="0" y="5250359"/>
            <a:ext cx="4572000" cy="40011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10 9 8 7 6 5 4 3 2 1 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4731656" y="1143000"/>
            <a:ext cx="3955144" cy="4038600"/>
            <a:chOff x="4731656" y="1143000"/>
            <a:chExt cx="3955144" cy="4038600"/>
          </a:xfrm>
        </p:grpSpPr>
        <p:pic>
          <p:nvPicPr>
            <p:cNvPr id="14" name="Picture 2" descr="http://alternatewrites.com/wp-content/uploads/2012/06/post-it-note-with-a-pin-300x300.jp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31656" y="1143000"/>
              <a:ext cx="3955144" cy="4038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TextBox 14"/>
            <p:cNvSpPr txBox="1"/>
            <p:nvPr/>
          </p:nvSpPr>
          <p:spPr>
            <a:xfrm rot="21303997">
              <a:off x="5314425" y="2100582"/>
              <a:ext cx="2575443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Bradley Hand ITC" panose="03070402050302030203" pitchFamily="66" charset="0"/>
                </a:rPr>
                <a:t>Quick yak:</a:t>
              </a:r>
            </a:p>
            <a:p>
              <a:r>
                <a:rPr lang="en-US" b="1" dirty="0">
                  <a:latin typeface="Bradley Hand ITC" panose="03070402050302030203" pitchFamily="66" charset="0"/>
                </a:rPr>
                <a:t>To repeat the car game when game has ended i.e. life is equal to zero . That is while the choice is not equal to ‘n’o.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0921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64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>
                <a:ea typeface="新細明體" charset="-120"/>
              </a:rPr>
              <a:t>The for Statement in C</a:t>
            </a:r>
          </a:p>
        </p:txBody>
      </p:sp>
      <p:sp>
        <p:nvSpPr>
          <p:cNvPr id="60006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196975"/>
            <a:ext cx="8534400" cy="5472113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zh-TW" sz="2800" dirty="0"/>
              <a:t>The syntax of </a:t>
            </a:r>
            <a:r>
              <a:rPr lang="en-US" altLang="zh-TW" sz="2800" dirty="0">
                <a:latin typeface="Courier New" pitchFamily="49" charset="0"/>
              </a:rPr>
              <a:t>for</a:t>
            </a:r>
            <a:r>
              <a:rPr lang="en-US" altLang="zh-TW" sz="2800" dirty="0"/>
              <a:t> statement in C: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altLang="zh-TW" sz="2800" dirty="0"/>
              <a:t>	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endParaRPr lang="en-US" altLang="zh-TW" sz="2800" dirty="0"/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endParaRPr lang="en-US" altLang="zh-TW" sz="2800" dirty="0"/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endParaRPr lang="en-US" altLang="zh-TW" sz="2800" dirty="0"/>
          </a:p>
          <a:p>
            <a:pPr>
              <a:defRPr/>
            </a:pPr>
            <a:r>
              <a:rPr lang="en-US" altLang="zh-TW" sz="2800" dirty="0"/>
              <a:t>The </a:t>
            </a:r>
            <a:r>
              <a:rPr lang="en-US" altLang="zh-TW" sz="2800" b="1" dirty="0"/>
              <a:t>initialization-expression </a:t>
            </a:r>
            <a:r>
              <a:rPr lang="en-US" altLang="zh-TW" sz="2800" dirty="0"/>
              <a:t>set the initial value of the loop control variable.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zh-TW" sz="2800" dirty="0"/>
              <a:t>The </a:t>
            </a:r>
            <a:r>
              <a:rPr lang="en-US" altLang="zh-TW" sz="2800" b="1" dirty="0"/>
              <a:t>loop-repetition-condition</a:t>
            </a:r>
            <a:r>
              <a:rPr lang="en-US" altLang="zh-TW" sz="2800" dirty="0"/>
              <a:t> test the value of the loop control variable.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zh-TW" sz="2800" dirty="0"/>
              <a:t>The </a:t>
            </a:r>
            <a:r>
              <a:rPr lang="en-US" altLang="zh-TW" sz="2800" b="1" dirty="0"/>
              <a:t>update-expression</a:t>
            </a:r>
            <a:r>
              <a:rPr lang="en-US" altLang="zh-TW" sz="2800" dirty="0"/>
              <a:t> update the loop control variable.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609600" y="1752600"/>
            <a:ext cx="5029200" cy="2057400"/>
            <a:chOff x="914400" y="2057400"/>
            <a:chExt cx="5029200" cy="1905000"/>
          </a:xfrm>
        </p:grpSpPr>
        <p:sp>
          <p:nvSpPr>
            <p:cNvPr id="6" name="Vertical Scroll 5"/>
            <p:cNvSpPr/>
            <p:nvPr/>
          </p:nvSpPr>
          <p:spPr>
            <a:xfrm>
              <a:off x="914400" y="2057400"/>
              <a:ext cx="5029200" cy="1905000"/>
            </a:xfrm>
            <a:prstGeom prst="verticalScroll">
              <a:avLst>
                <a:gd name="adj" fmla="val 18730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  <a:p>
              <a:pPr>
                <a:defRPr/>
              </a:pPr>
              <a:r>
                <a:rPr lang="en-US" altLang="zh-TW" sz="2000" dirty="0">
                  <a:solidFill>
                    <a:srgbClr val="C00000"/>
                  </a:solidFill>
                  <a:latin typeface="Courier New" pitchFamily="49" charset="0"/>
                </a:rPr>
                <a:t>for</a:t>
              </a:r>
              <a:r>
                <a:rPr lang="en-US" altLang="zh-TW" sz="2000" dirty="0">
                  <a:solidFill>
                    <a:srgbClr val="C00000"/>
                  </a:solidFill>
                </a:rPr>
                <a:t> (initialization-expression;</a:t>
              </a:r>
            </a:p>
            <a:p>
              <a:pPr>
                <a:defRPr/>
              </a:pPr>
              <a:r>
                <a:rPr lang="en-US" altLang="zh-TW" sz="2000" dirty="0">
                  <a:solidFill>
                    <a:srgbClr val="C00000"/>
                  </a:solidFill>
                </a:rPr>
                <a:t>           loop-repetition-condition;</a:t>
              </a:r>
            </a:p>
            <a:p>
              <a:pPr>
                <a:defRPr/>
              </a:pPr>
              <a:r>
                <a:rPr lang="en-US" altLang="zh-TW" sz="2000" dirty="0">
                  <a:solidFill>
                    <a:srgbClr val="C00000"/>
                  </a:solidFill>
                </a:rPr>
                <a:t>           update-expression){</a:t>
              </a:r>
            </a:p>
            <a:p>
              <a:pPr>
                <a:defRPr/>
              </a:pPr>
              <a:r>
                <a:rPr lang="en-US" altLang="zh-TW" sz="2000" dirty="0">
                  <a:solidFill>
                    <a:srgbClr val="C00000"/>
                  </a:solidFill>
                </a:rPr>
                <a:t>   statement; </a:t>
              </a:r>
            </a:p>
            <a:p>
              <a:pPr>
                <a:defRPr/>
              </a:pPr>
              <a:r>
                <a:rPr lang="en-US" altLang="zh-TW" sz="2000" dirty="0">
                  <a:solidFill>
                    <a:srgbClr val="C00000"/>
                  </a:solidFill>
                </a:rPr>
                <a:t>}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819400" y="2057400"/>
              <a:ext cx="1447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Syntax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9559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147255000"/>
    </mc:Choice>
    <mc:Fallback xmlns="">
      <p:transition spd="slow" advClick="0" advTm="2147255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ChangeArrowheads="1"/>
          </p:cNvSpPr>
          <p:nvPr/>
        </p:nvSpPr>
        <p:spPr bwMode="auto">
          <a:xfrm>
            <a:off x="5181600" y="1479550"/>
            <a:ext cx="3733800" cy="476885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IN"/>
          </a:p>
        </p:txBody>
      </p:sp>
      <p:sp>
        <p:nvSpPr>
          <p:cNvPr id="174085" name="Text Box 5"/>
          <p:cNvSpPr txBox="1">
            <a:spLocks noChangeArrowheads="1"/>
          </p:cNvSpPr>
          <p:nvPr/>
        </p:nvSpPr>
        <p:spPr bwMode="auto">
          <a:xfrm>
            <a:off x="228600" y="1501775"/>
            <a:ext cx="4572000" cy="223202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l" eaLnBrk="0" hangingPunct="0">
              <a:spcBef>
                <a:spcPct val="20000"/>
              </a:spcBef>
            </a:pPr>
            <a:endParaRPr lang="en-US" sz="2000" b="1" dirty="0">
              <a:latin typeface="Courier New" pitchFamily="1" charset="0"/>
            </a:endParaRPr>
          </a:p>
          <a:p>
            <a:pPr algn="l" eaLnBrk="0" hangingPunct="0">
              <a:spcBef>
                <a:spcPct val="20000"/>
              </a:spcBef>
            </a:pPr>
            <a:r>
              <a:rPr lang="en-US" sz="2000" b="1" dirty="0">
                <a:solidFill>
                  <a:srgbClr val="FF0000"/>
                </a:solidFill>
                <a:latin typeface="Courier New" pitchFamily="1" charset="0"/>
              </a:rPr>
              <a:t>for (</a:t>
            </a:r>
            <a:r>
              <a:rPr lang="en-US" sz="1200" b="1" dirty="0">
                <a:latin typeface="Courier New" pitchFamily="1" charset="0"/>
              </a:rPr>
              <a:t>Initialization</a:t>
            </a:r>
            <a:r>
              <a:rPr lang="en-US" sz="2000" b="1" dirty="0">
                <a:solidFill>
                  <a:srgbClr val="FF0000"/>
                </a:solidFill>
                <a:latin typeface="Courier New" pitchFamily="1" charset="0"/>
              </a:rPr>
              <a:t>; </a:t>
            </a:r>
            <a:r>
              <a:rPr lang="en-US" sz="1200" b="1" dirty="0">
                <a:latin typeface="Courier New" pitchFamily="1" charset="0"/>
              </a:rPr>
              <a:t>Condition</a:t>
            </a:r>
            <a:r>
              <a:rPr lang="en-US" sz="2000" b="1" dirty="0">
                <a:solidFill>
                  <a:srgbClr val="FF0000"/>
                </a:solidFill>
                <a:latin typeface="Courier New" pitchFamily="1" charset="0"/>
              </a:rPr>
              <a:t>; </a:t>
            </a:r>
            <a:r>
              <a:rPr lang="en-US" sz="1200" b="1" dirty="0">
                <a:latin typeface="Courier New" pitchFamily="1" charset="0"/>
              </a:rPr>
              <a:t>Updating</a:t>
            </a:r>
            <a:r>
              <a:rPr lang="en-US" sz="2000" b="1" dirty="0">
                <a:solidFill>
                  <a:srgbClr val="FF0000"/>
                </a:solidFill>
                <a:latin typeface="Courier New" pitchFamily="1" charset="0"/>
              </a:rPr>
              <a:t>)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{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  </a:t>
            </a:r>
            <a:r>
              <a:rPr lang="en-US" sz="2000" b="1" dirty="0" err="1">
                <a:latin typeface="Courier New" pitchFamily="1" charset="0"/>
              </a:rPr>
              <a:t>Repeated_Actions</a:t>
            </a:r>
            <a:r>
              <a:rPr lang="en-US" sz="2000" b="1" dirty="0">
                <a:latin typeface="Courier New" pitchFamily="1" charset="0"/>
              </a:rPr>
              <a:t>;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}</a:t>
            </a:r>
          </a:p>
          <a:p>
            <a:pPr algn="l" eaLnBrk="0" hangingPunct="0">
              <a:spcBef>
                <a:spcPct val="20000"/>
              </a:spcBef>
            </a:pPr>
            <a:endParaRPr lang="en-US" sz="2000" dirty="0">
              <a:latin typeface="Courier New" pitchFamily="1" charset="0"/>
            </a:endParaRPr>
          </a:p>
        </p:txBody>
      </p:sp>
      <p:graphicFrame>
        <p:nvGraphicFramePr>
          <p:cNvPr id="174090" name="Object 10"/>
          <p:cNvGraphicFramePr>
            <a:graphicFrameLocks noChangeAspect="1"/>
          </p:cNvGraphicFramePr>
          <p:nvPr/>
        </p:nvGraphicFramePr>
        <p:xfrm>
          <a:off x="5181600" y="1524000"/>
          <a:ext cx="3733800" cy="480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4" name="Visio" r:id="rId3" imgW="1947357" imgH="3274985" progId="">
                  <p:embed/>
                </p:oleObj>
              </mc:Choice>
              <mc:Fallback>
                <p:oleObj name="Visio" r:id="rId3" imgW="1947357" imgH="3274985" progId="">
                  <p:embed/>
                  <p:pic>
                    <p:nvPicPr>
                      <p:cNvPr id="0" name="Picture 1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1524000"/>
                        <a:ext cx="3733800" cy="480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dirty="0"/>
              <a:t> statement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731656" y="1143000"/>
            <a:ext cx="3955144" cy="4038600"/>
            <a:chOff x="4731656" y="1143000"/>
            <a:chExt cx="3955144" cy="4038600"/>
          </a:xfrm>
        </p:grpSpPr>
        <p:pic>
          <p:nvPicPr>
            <p:cNvPr id="8" name="Picture 2" descr="http://alternatewrites.com/wp-content/uploads/2012/06/post-it-note-with-a-pin-300x300.jp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31656" y="1143000"/>
              <a:ext cx="3955144" cy="4038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/>
            <p:cNvSpPr txBox="1"/>
            <p:nvPr/>
          </p:nvSpPr>
          <p:spPr>
            <a:xfrm rot="21303997">
              <a:off x="5314425" y="1877140"/>
              <a:ext cx="257544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  <a:latin typeface="Bradley Hand ITC" panose="03070402050302030203" pitchFamily="66" charset="0"/>
                </a:rPr>
                <a:t>Quick yak:</a:t>
              </a:r>
            </a:p>
            <a:p>
              <a:r>
                <a:rPr lang="en-US" b="1" dirty="0">
                  <a:solidFill>
                    <a:srgbClr val="002060"/>
                  </a:solidFill>
                  <a:latin typeface="Bradley Hand ITC" panose="03070402050302030203" pitchFamily="66" charset="0"/>
                </a:rPr>
                <a:t>For loop to repeat the car game from life = 5 to life &gt; 0.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5184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2019300" y="2971800"/>
            <a:ext cx="6896100" cy="3771626"/>
            <a:chOff x="2019300" y="3048000"/>
            <a:chExt cx="6896100" cy="3771626"/>
          </a:xfrm>
        </p:grpSpPr>
        <p:pic>
          <p:nvPicPr>
            <p:cNvPr id="10" name="Picture 92" descr="http://www.illustration.com.au/images/web/How-to-do-Push-ups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4900" y="3048000"/>
              <a:ext cx="4000500" cy="32504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/>
            <p:cNvSpPr txBox="1"/>
            <p:nvPr/>
          </p:nvSpPr>
          <p:spPr>
            <a:xfrm>
              <a:off x="2019300" y="5896296"/>
              <a:ext cx="2895600" cy="9233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Do TEN push ups = for count=1; count&lt;=10; count++</a:t>
              </a:r>
              <a:endParaRPr lang="en-IN" dirty="0"/>
            </a:p>
          </p:txBody>
        </p:sp>
      </p:grpSp>
      <p:sp>
        <p:nvSpPr>
          <p:cNvPr id="178178" name="Rectangle 2"/>
          <p:cNvSpPr>
            <a:spLocks noChangeArrowheads="1"/>
          </p:cNvSpPr>
          <p:nvPr/>
        </p:nvSpPr>
        <p:spPr bwMode="auto">
          <a:xfrm>
            <a:off x="4953000" y="1905000"/>
            <a:ext cx="3962400" cy="46482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for </a:t>
            </a:r>
            <a:r>
              <a:rPr lang="en-US" dirty="0">
                <a:latin typeface="+mn-lt"/>
                <a:cs typeface="Courier New" pitchFamily="49" charset="0"/>
              </a:rPr>
              <a:t>statement</a:t>
            </a:r>
          </a:p>
        </p:txBody>
      </p:sp>
      <p:sp>
        <p:nvSpPr>
          <p:cNvPr id="178187" name="Rectangle 11"/>
          <p:cNvSpPr>
            <a:spLocks noGrp="1" noChangeArrowheads="1"/>
          </p:cNvSpPr>
          <p:nvPr>
            <p:ph idx="1"/>
          </p:nvPr>
        </p:nvSpPr>
        <p:spPr bwMode="auto">
          <a:xfrm>
            <a:off x="609600" y="1447800"/>
            <a:ext cx="8229600" cy="457200"/>
          </a:xfrm>
          <a:solidFill>
            <a:srgbClr val="FFFFFF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buFontTx/>
              <a:buNone/>
            </a:pPr>
            <a:r>
              <a:rPr lang="en-US" sz="2400" dirty="0"/>
              <a:t>Example: This for statement prints numbers 10 down to 1</a:t>
            </a:r>
          </a:p>
        </p:txBody>
      </p:sp>
      <p:sp>
        <p:nvSpPr>
          <p:cNvPr id="178181" name="Text Box 5"/>
          <p:cNvSpPr txBox="1">
            <a:spLocks noChangeArrowheads="1"/>
          </p:cNvSpPr>
          <p:nvPr/>
        </p:nvSpPr>
        <p:spPr bwMode="auto">
          <a:xfrm>
            <a:off x="0" y="1905000"/>
            <a:ext cx="4648200" cy="335476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#include&lt;stdio.h&gt;</a:t>
            </a:r>
          </a:p>
          <a:p>
            <a:pPr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int main()</a:t>
            </a:r>
          </a:p>
          <a:p>
            <a:pPr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{</a:t>
            </a:r>
          </a:p>
          <a:p>
            <a:pPr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 int n;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 for (n=10; n&gt;0; n=n-1){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  printf(“%d ”, n);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 }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}</a:t>
            </a:r>
          </a:p>
          <a:p>
            <a:pPr algn="l" eaLnBrk="0" hangingPunct="0">
              <a:spcBef>
                <a:spcPct val="20000"/>
              </a:spcBef>
            </a:pPr>
            <a:endParaRPr lang="en-US" sz="2000" dirty="0">
              <a:latin typeface="Courier New" pitchFamily="1" charset="0"/>
            </a:endParaRPr>
          </a:p>
        </p:txBody>
      </p:sp>
      <p:graphicFrame>
        <p:nvGraphicFramePr>
          <p:cNvPr id="178188" name="Object 12"/>
          <p:cNvGraphicFramePr>
            <a:graphicFrameLocks noChangeAspect="1"/>
          </p:cNvGraphicFramePr>
          <p:nvPr/>
        </p:nvGraphicFramePr>
        <p:xfrm>
          <a:off x="5486400" y="1828800"/>
          <a:ext cx="2860675" cy="480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8" name="VISIO" r:id="rId4" imgW="2082462" imgH="3498112" progId="">
                  <p:embed/>
                </p:oleObj>
              </mc:Choice>
              <mc:Fallback>
                <p:oleObj name="VISIO" r:id="rId4" imgW="2082462" imgH="3498112" progId="">
                  <p:embed/>
                  <p:pic>
                    <p:nvPicPr>
                      <p:cNvPr id="0" name="Picture 1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828800"/>
                        <a:ext cx="2860675" cy="480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8189" name="Text Box 13"/>
          <p:cNvSpPr txBox="1">
            <a:spLocks noChangeArrowheads="1"/>
          </p:cNvSpPr>
          <p:nvPr/>
        </p:nvSpPr>
        <p:spPr bwMode="auto">
          <a:xfrm>
            <a:off x="0" y="5402759"/>
            <a:ext cx="4648200" cy="40011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10 9 8 7 6 5 4 3 2 1 </a:t>
            </a:r>
          </a:p>
        </p:txBody>
      </p:sp>
    </p:spTree>
    <p:extLst>
      <p:ext uri="{BB962C8B-B14F-4D97-AF65-F5344CB8AC3E}">
        <p14:creationId xmlns:p14="http://schemas.microsoft.com/office/powerpoint/2010/main" val="574706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89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AEMZJI0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clrChange>
              <a:clrFrom>
                <a:srgbClr val="EAEAEA"/>
              </a:clrFrom>
              <a:clrTo>
                <a:srgbClr val="EAEAEA">
                  <a:alpha val="0"/>
                </a:srgbClr>
              </a:clrTo>
            </a:clrChange>
          </a:blip>
          <a:srcRect l="6776" r="7658"/>
          <a:stretch>
            <a:fillRect/>
          </a:stretch>
        </p:blipFill>
        <p:spPr bwMode="auto">
          <a:xfrm>
            <a:off x="838200" y="1600200"/>
            <a:ext cx="7391400" cy="3962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3734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>
                <a:ea typeface="新細明體" charset="-120"/>
              </a:rPr>
              <a:t>Nested Loops</a:t>
            </a:r>
          </a:p>
        </p:txBody>
      </p:sp>
      <p:sp>
        <p:nvSpPr>
          <p:cNvPr id="60211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268413"/>
            <a:ext cx="8534400" cy="5329237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zh-TW" dirty="0"/>
              <a:t>Nested loops consist of an </a:t>
            </a:r>
            <a:r>
              <a:rPr lang="en-US" altLang="zh-TW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outer loop</a:t>
            </a:r>
            <a:r>
              <a:rPr lang="en-US" altLang="zh-TW" dirty="0"/>
              <a:t> with one or more </a:t>
            </a:r>
            <a:r>
              <a:rPr lang="en-US" altLang="zh-TW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inner loops</a:t>
            </a:r>
            <a:r>
              <a:rPr lang="en-US" altLang="zh-TW" dirty="0"/>
              <a:t>.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altLang="zh-TW" dirty="0" err="1"/>
              <a:t>Eg</a:t>
            </a:r>
            <a:r>
              <a:rPr lang="en-US" altLang="zh-TW" dirty="0"/>
              <a:t>: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altLang="zh-TW" dirty="0"/>
              <a:t>		</a:t>
            </a:r>
            <a:r>
              <a:rPr lang="en-US" altLang="zh-TW" sz="2800" spc="-150" dirty="0"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altLang="zh-TW" sz="2800" spc="-15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TW" sz="2800" spc="-150" dirty="0">
                <a:latin typeface="Courier New" pitchFamily="49" charset="0"/>
                <a:cs typeface="Courier New" pitchFamily="49" charset="0"/>
              </a:rPr>
              <a:t>=1;i&lt;=100;i++){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altLang="zh-TW" sz="2800" spc="-150" dirty="0">
                <a:latin typeface="Courier New" pitchFamily="49" charset="0"/>
                <a:cs typeface="Courier New" pitchFamily="49" charset="0"/>
              </a:rPr>
              <a:t>			for(j=1;j&lt;=50;j++){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altLang="zh-TW" sz="2800" spc="-150" dirty="0">
                <a:latin typeface="Courier New" pitchFamily="49" charset="0"/>
                <a:cs typeface="Courier New" pitchFamily="49" charset="0"/>
              </a:rPr>
              <a:t>				…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altLang="zh-TW" sz="2800" spc="-150" dirty="0">
                <a:latin typeface="Courier New" pitchFamily="49" charset="0"/>
                <a:cs typeface="Courier New" pitchFamily="49" charset="0"/>
              </a:rPr>
              <a:t>			}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altLang="zh-TW" sz="2800" spc="-150" dirty="0">
                <a:latin typeface="Courier New" pitchFamily="49" charset="0"/>
                <a:cs typeface="Courier New" pitchFamily="49" charset="0"/>
              </a:rPr>
              <a:t>		}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zh-TW" dirty="0"/>
              <a:t>The above loop will run for 100*50 iterations.</a:t>
            </a:r>
          </a:p>
        </p:txBody>
      </p:sp>
      <p:sp>
        <p:nvSpPr>
          <p:cNvPr id="38917" name="Rectangle 4"/>
          <p:cNvSpPr>
            <a:spLocks noChangeArrowheads="1"/>
          </p:cNvSpPr>
          <p:nvPr/>
        </p:nvSpPr>
        <p:spPr bwMode="auto">
          <a:xfrm>
            <a:off x="1949450" y="3429000"/>
            <a:ext cx="3384550" cy="1727200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2117" name="AutoShape 5"/>
          <p:cNvSpPr>
            <a:spLocks noChangeArrowheads="1"/>
          </p:cNvSpPr>
          <p:nvPr/>
        </p:nvSpPr>
        <p:spPr bwMode="auto">
          <a:xfrm>
            <a:off x="6858000" y="3459163"/>
            <a:ext cx="1728787" cy="503237"/>
          </a:xfrm>
          <a:prstGeom prst="wedgeRoundRectCallout">
            <a:avLst>
              <a:gd name="adj1" fmla="val -102801"/>
              <a:gd name="adj2" fmla="val 16245"/>
              <a:gd name="adj3" fmla="val 16667"/>
            </a:avLst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Inner loop</a:t>
            </a:r>
          </a:p>
        </p:txBody>
      </p:sp>
      <p:sp>
        <p:nvSpPr>
          <p:cNvPr id="602118" name="AutoShape 6"/>
          <p:cNvSpPr>
            <a:spLocks noChangeArrowheads="1"/>
          </p:cNvSpPr>
          <p:nvPr/>
        </p:nvSpPr>
        <p:spPr bwMode="auto">
          <a:xfrm>
            <a:off x="6424612" y="2849563"/>
            <a:ext cx="1728788" cy="503237"/>
          </a:xfrm>
          <a:prstGeom prst="wedgeRoundRectCallout">
            <a:avLst>
              <a:gd name="adj1" fmla="val -102801"/>
              <a:gd name="adj2" fmla="val 16245"/>
              <a:gd name="adj3" fmla="val 16667"/>
            </a:avLst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Outer loop</a:t>
            </a:r>
          </a:p>
        </p:txBody>
      </p:sp>
    </p:spTree>
    <p:extLst>
      <p:ext uri="{BB962C8B-B14F-4D97-AF65-F5344CB8AC3E}">
        <p14:creationId xmlns:p14="http://schemas.microsoft.com/office/powerpoint/2010/main" val="2764977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147255000"/>
    </mc:Choice>
    <mc:Fallback xmlns="">
      <p:transition spd="slow" advClick="0" advTm="214725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02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602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2117" grpId="0" animBg="1"/>
      <p:bldP spid="60211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400800" y="685800"/>
            <a:ext cx="2286000" cy="4495800"/>
          </a:xfrm>
        </p:spPr>
        <p:txBody>
          <a:bodyPr anchor="t">
            <a:normAutofit/>
          </a:bodyPr>
          <a:lstStyle/>
          <a:p>
            <a:pPr algn="l"/>
            <a:r>
              <a:rPr lang="en-US" sz="3200" dirty="0">
                <a:solidFill>
                  <a:schemeClr val="accent1"/>
                </a:solidFill>
                <a:latin typeface="+mn-lt"/>
              </a:rPr>
              <a:t>Program to print tables up to a given number.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09601"/>
            <a:ext cx="6324600" cy="426720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850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#include&lt;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i,j,k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(“Enter a number:”);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scanf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(“%d”, &amp;k);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(“the tables from 1 to %d: \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n”,k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b="1" dirty="0">
                <a:solidFill>
                  <a:schemeClr val="tx1"/>
                </a:solidFill>
                <a:effectLst>
                  <a:glow rad="228600">
                    <a:srgbClr val="FFFF00"/>
                  </a:glow>
                </a:effectLst>
                <a:latin typeface="Courier New" pitchFamily="49" charset="0"/>
                <a:cs typeface="Courier New" pitchFamily="49" charset="0"/>
              </a:rPr>
              <a:t>for(</a:t>
            </a:r>
            <a:r>
              <a:rPr lang="en-US" sz="1800" b="1" dirty="0" err="1">
                <a:solidFill>
                  <a:schemeClr val="tx1"/>
                </a:solidFill>
                <a:effectLst>
                  <a:glow rad="228600">
                    <a:srgbClr val="FFFF00"/>
                  </a:glo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effectLst>
                  <a:glow rad="228600">
                    <a:srgbClr val="FFFF00"/>
                  </a:glow>
                </a:effectLst>
                <a:latin typeface="Courier New" pitchFamily="49" charset="0"/>
                <a:cs typeface="Courier New" pitchFamily="49" charset="0"/>
              </a:rPr>
              <a:t>=1; </a:t>
            </a:r>
            <a:r>
              <a:rPr lang="en-US" sz="1800" b="1" dirty="0" err="1">
                <a:solidFill>
                  <a:schemeClr val="tx1"/>
                </a:solidFill>
                <a:effectLst>
                  <a:glow rad="228600">
                    <a:srgbClr val="FFFF00"/>
                  </a:glo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effectLst>
                  <a:glow rad="228600">
                    <a:srgbClr val="FFFF00"/>
                  </a:glow>
                </a:effectLst>
                <a:latin typeface="Courier New" pitchFamily="49" charset="0"/>
                <a:cs typeface="Courier New" pitchFamily="49" charset="0"/>
              </a:rPr>
              <a:t>&lt;=k; </a:t>
            </a:r>
            <a:r>
              <a:rPr lang="en-US" sz="1800" b="1" dirty="0" err="1">
                <a:solidFill>
                  <a:schemeClr val="tx1"/>
                </a:solidFill>
                <a:effectLst>
                  <a:glow rad="228600">
                    <a:srgbClr val="FFFF00"/>
                  </a:glo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effectLst>
                  <a:glow rad="228600">
                    <a:srgbClr val="FFFF00"/>
                  </a:glow>
                </a:effectLst>
                <a:latin typeface="Courier New" pitchFamily="49" charset="0"/>
                <a:cs typeface="Courier New" pitchFamily="49" charset="0"/>
              </a:rPr>
              <a:t>++)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800" b="1" dirty="0">
                <a:solidFill>
                  <a:schemeClr val="tx1"/>
                </a:solidFill>
                <a:effectLst>
                  <a:glow rad="228600">
                    <a:srgbClr val="FFFF00"/>
                  </a:glow>
                </a:effectLst>
                <a:latin typeface="Courier New" pitchFamily="49" charset="0"/>
                <a:cs typeface="Courier New" pitchFamily="49" charset="0"/>
              </a:rPr>
              <a:t>for(j=1; j&lt;=10; j++)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(“%d ”,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*j);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} //end inner for loop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(“\n”);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} //end outer for loop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getch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 //end 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99" y="4876800"/>
            <a:ext cx="6324600" cy="19236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700" b="1" dirty="0"/>
              <a:t>Enter a number</a:t>
            </a:r>
          </a:p>
          <a:p>
            <a:r>
              <a:rPr lang="en-US" sz="1700" b="1" dirty="0"/>
              <a:t>4</a:t>
            </a:r>
          </a:p>
          <a:p>
            <a:r>
              <a:rPr lang="en-US" sz="1700" b="1" dirty="0"/>
              <a:t>The tables from 1 to 4</a:t>
            </a:r>
          </a:p>
          <a:p>
            <a:r>
              <a:rPr lang="en-US" sz="1700" b="1" dirty="0"/>
              <a:t>1 2 3 4 5 6 7 8 9 10</a:t>
            </a:r>
          </a:p>
          <a:p>
            <a:r>
              <a:rPr lang="en-US" sz="1700" b="1" dirty="0"/>
              <a:t>2 4 6 8 10 12 14 16 18 20</a:t>
            </a:r>
          </a:p>
          <a:p>
            <a:r>
              <a:rPr lang="en-US" sz="1700" b="1" dirty="0"/>
              <a:t>3 6 9 12 15 18 21 24 27 30 </a:t>
            </a:r>
          </a:p>
          <a:p>
            <a:r>
              <a:rPr lang="en-US" sz="1700" b="1" dirty="0"/>
              <a:t>4 8 12 16 20 24 28 32 36 40</a:t>
            </a:r>
          </a:p>
        </p:txBody>
      </p:sp>
    </p:spTree>
    <p:extLst>
      <p:ext uri="{BB962C8B-B14F-4D97-AF65-F5344CB8AC3E}">
        <p14:creationId xmlns:p14="http://schemas.microsoft.com/office/powerpoint/2010/main" val="9981075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55638"/>
            <a:ext cx="6324600" cy="442014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#include&lt;stdio.h&gt;</a:t>
            </a:r>
          </a:p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#include&lt;</a:t>
            </a:r>
            <a:r>
              <a:rPr lang="en-US" sz="17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conio.h</a:t>
            </a:r>
            <a:r>
              <a:rPr lang="en-US" sz="17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int </a:t>
            </a:r>
            <a:r>
              <a:rPr lang="en-US" sz="17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i,j</a:t>
            </a:r>
            <a:r>
              <a:rPr lang="en-US" sz="17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printf(“Displaying right angled triangle for 5 rows”);</a:t>
            </a:r>
          </a:p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for(</a:t>
            </a:r>
            <a:r>
              <a:rPr lang="en-US" sz="17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7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=1 ; </a:t>
            </a:r>
            <a:r>
              <a:rPr lang="en-US" sz="17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7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&lt;=5 ; </a:t>
            </a:r>
            <a:r>
              <a:rPr lang="en-US" sz="17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7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++) </a:t>
            </a:r>
          </a:p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 </a:t>
            </a:r>
          </a:p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	for(j=1 ; j&lt;=</a:t>
            </a:r>
            <a:r>
              <a:rPr lang="en-US" sz="17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7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; j++)</a:t>
            </a:r>
          </a:p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{   	printf(“* ”);}</a:t>
            </a:r>
          </a:p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printf(“\n”);</a:t>
            </a:r>
          </a:p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}</a:t>
            </a:r>
          </a:p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400800" y="685800"/>
            <a:ext cx="2286000" cy="4495800"/>
          </a:xfrm>
        </p:spPr>
        <p:txBody>
          <a:bodyPr anchor="t">
            <a:normAutofit/>
          </a:bodyPr>
          <a:lstStyle/>
          <a:p>
            <a:pPr algn="l"/>
            <a:r>
              <a:rPr lang="en-US" sz="3200" dirty="0">
                <a:solidFill>
                  <a:schemeClr val="accent1"/>
                </a:solidFill>
                <a:latin typeface="+mn-lt"/>
              </a:rPr>
              <a:t>Program to display a pattern.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6324600" cy="16619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700" b="1" dirty="0"/>
              <a:t>Displaying right angled triangle for 5 rows</a:t>
            </a:r>
          </a:p>
          <a:p>
            <a:r>
              <a:rPr lang="en-US" sz="1700" b="1" dirty="0"/>
              <a:t>* </a:t>
            </a:r>
          </a:p>
          <a:p>
            <a:r>
              <a:rPr lang="en-US" sz="1700" b="1" dirty="0"/>
              <a:t>* *  </a:t>
            </a:r>
          </a:p>
          <a:p>
            <a:r>
              <a:rPr lang="en-US" sz="1700" b="1" dirty="0"/>
              <a:t>* * * </a:t>
            </a:r>
          </a:p>
          <a:p>
            <a:r>
              <a:rPr lang="en-US" sz="1700" b="1" dirty="0"/>
              <a:t>* * * * </a:t>
            </a:r>
          </a:p>
          <a:p>
            <a:r>
              <a:rPr lang="en-US" sz="1700" b="1" dirty="0"/>
              <a:t>* * * * *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324600" y="2912554"/>
            <a:ext cx="4259944" cy="4326446"/>
            <a:chOff x="4731657" y="1143000"/>
            <a:chExt cx="3276600" cy="3276600"/>
          </a:xfrm>
        </p:grpSpPr>
        <p:pic>
          <p:nvPicPr>
            <p:cNvPr id="7" name="Picture 2" descr="http://alternatewrites.com/wp-content/uploads/2012/06/post-it-note-with-a-pin-300x300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31657" y="1143000"/>
              <a:ext cx="3276600" cy="3276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/>
            <p:cNvSpPr txBox="1"/>
            <p:nvPr/>
          </p:nvSpPr>
          <p:spPr>
            <a:xfrm rot="21303997">
              <a:off x="5429230" y="2237533"/>
              <a:ext cx="1881455" cy="13286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  <a:latin typeface="Bradley Hand ITC" panose="03070402050302030203" pitchFamily="66" charset="0"/>
                </a:rPr>
                <a:t>Quick yak:</a:t>
              </a:r>
            </a:p>
            <a:p>
              <a:r>
                <a:rPr lang="en-US" b="1" dirty="0">
                  <a:latin typeface="Bradley Hand ITC" panose="03070402050302030203" pitchFamily="66" charset="0"/>
                </a:rPr>
                <a:t>Tell them to display various patterns, ex: reverse right angle triangle, isometric triangle etc.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28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524000"/>
            <a:ext cx="7443788" cy="4652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4329" name="Text Box 9"/>
          <p:cNvSpPr txBox="1">
            <a:spLocks noChangeArrowheads="1"/>
          </p:cNvSpPr>
          <p:nvPr/>
        </p:nvSpPr>
        <p:spPr bwMode="auto">
          <a:xfrm>
            <a:off x="2707943" y="6295930"/>
            <a:ext cx="4648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1600" b="1" dirty="0"/>
              <a:t>Comparing </a:t>
            </a:r>
            <a:r>
              <a:rPr lang="en-US" sz="1600" b="1" dirty="0">
                <a:latin typeface="Courier New" pitchFamily="1" charset="0"/>
              </a:rPr>
              <a:t>for</a:t>
            </a:r>
            <a:r>
              <a:rPr lang="en-US" sz="1600" b="1" dirty="0"/>
              <a:t> and </a:t>
            </a:r>
            <a:r>
              <a:rPr lang="en-US" sz="1600" b="1" dirty="0">
                <a:latin typeface="Courier New" pitchFamily="1" charset="0"/>
              </a:rPr>
              <a:t>while</a:t>
            </a:r>
            <a:r>
              <a:rPr lang="en-US" sz="1600" b="1" dirty="0"/>
              <a:t> loops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pitchFamily="1" charset="0"/>
              </a:rPr>
              <a:t>While </a:t>
            </a:r>
            <a:r>
              <a:rPr lang="en-US" dirty="0"/>
              <a:t>vs.</a:t>
            </a:r>
            <a:r>
              <a:rPr lang="en-US" dirty="0">
                <a:latin typeface="Trebuchet MS" pitchFamily="34" charset="0"/>
              </a:rPr>
              <a:t> </a:t>
            </a:r>
            <a:r>
              <a:rPr lang="en-US" dirty="0">
                <a:latin typeface="Courier New" pitchFamily="1" charset="0"/>
              </a:rPr>
              <a:t>for </a:t>
            </a:r>
            <a:r>
              <a:rPr lang="en-US" dirty="0"/>
              <a:t>statements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4731656" y="1143000"/>
            <a:ext cx="4259944" cy="4326446"/>
            <a:chOff x="4731657" y="1143000"/>
            <a:chExt cx="3276600" cy="3276600"/>
          </a:xfrm>
        </p:grpSpPr>
        <p:pic>
          <p:nvPicPr>
            <p:cNvPr id="7" name="Picture 2" descr="http://alternatewrites.com/wp-content/uploads/2012/06/post-it-note-with-a-pin-300x300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31657" y="1143000"/>
              <a:ext cx="3276600" cy="3276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/>
            <p:cNvSpPr txBox="1"/>
            <p:nvPr/>
          </p:nvSpPr>
          <p:spPr>
            <a:xfrm rot="21303997">
              <a:off x="5429230" y="1677206"/>
              <a:ext cx="1881455" cy="2449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2060"/>
                  </a:solidFill>
                  <a:latin typeface="Bradley Hand ITC" panose="03070402050302030203" pitchFamily="66" charset="0"/>
                </a:rPr>
                <a:t>Quick yak:</a:t>
              </a:r>
            </a:p>
            <a:p>
              <a:r>
                <a:rPr lang="en-US" b="1" dirty="0">
                  <a:latin typeface="Bradley Hand ITC" panose="03070402050302030203" pitchFamily="66" charset="0"/>
                </a:rPr>
                <a:t>Daily life ex:</a:t>
              </a:r>
            </a:p>
            <a:p>
              <a:r>
                <a:rPr lang="en-US" b="1" dirty="0">
                  <a:latin typeface="Bradley Hand ITC" panose="03070402050302030203" pitchFamily="66" charset="0"/>
                </a:rPr>
                <a:t>While: (date&lt;=last day of class)</a:t>
              </a:r>
            </a:p>
            <a:p>
              <a:r>
                <a:rPr lang="en-US" b="1" dirty="0">
                  <a:latin typeface="Bradley Hand ITC" panose="03070402050302030203" pitchFamily="66" charset="0"/>
                </a:rPr>
                <a:t>{Attend class;</a:t>
              </a:r>
            </a:p>
            <a:p>
              <a:r>
                <a:rPr lang="en-US" b="1" dirty="0">
                  <a:latin typeface="Bradley Hand ITC" panose="03070402050302030203" pitchFamily="66" charset="0"/>
                </a:rPr>
                <a:t>}</a:t>
              </a:r>
            </a:p>
            <a:p>
              <a:r>
                <a:rPr lang="en-US" b="1" dirty="0">
                  <a:latin typeface="Bradley Hand ITC" panose="03070402050302030203" pitchFamily="66" charset="0"/>
                </a:rPr>
                <a:t>For: (rad=1;rad&lt;=10; rad++)</a:t>
              </a:r>
            </a:p>
            <a:p>
              <a:r>
                <a:rPr lang="en-US" b="1" dirty="0">
                  <a:latin typeface="Bradley Hand ITC" panose="03070402050302030203" pitchFamily="66" charset="0"/>
                </a:rPr>
                <a:t>Circle(</a:t>
              </a:r>
              <a:r>
                <a:rPr lang="en-US" b="1" dirty="0" err="1">
                  <a:latin typeface="Bradley Hand ITC" panose="03070402050302030203" pitchFamily="66" charset="0"/>
                </a:rPr>
                <a:t>x,y,rad</a:t>
              </a:r>
              <a:r>
                <a:rPr lang="en-US" b="1" dirty="0">
                  <a:latin typeface="Bradley Hand ITC" panose="03070402050302030203" pitchFamily="66" charset="0"/>
                </a:rPr>
                <a:t>)</a:t>
              </a:r>
            </a:p>
            <a:p>
              <a:r>
                <a:rPr lang="en-US" b="1" dirty="0">
                  <a:latin typeface="Bradley Hand ITC" panose="03070402050302030203" pitchFamily="66" charset="0"/>
                </a:rPr>
                <a:t>Will make 10 concentric circles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31413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TW" dirty="0">
                <a:ea typeface="新細明體" charset="-120"/>
              </a:rPr>
              <a:t>The </a:t>
            </a:r>
            <a:r>
              <a:rPr lang="en-US" altLang="zh-TW" dirty="0">
                <a:latin typeface="Courier New" pitchFamily="49" charset="0"/>
                <a:ea typeface="新細明體" charset="-120"/>
                <a:cs typeface="Courier New" pitchFamily="49" charset="0"/>
              </a:rPr>
              <a:t>do-while</a:t>
            </a:r>
            <a:r>
              <a:rPr lang="en-US" altLang="zh-TW" dirty="0">
                <a:ea typeface="新細明體" charset="-120"/>
              </a:rPr>
              <a:t> Statement in C</a:t>
            </a:r>
          </a:p>
        </p:txBody>
      </p:sp>
      <p:sp>
        <p:nvSpPr>
          <p:cNvPr id="603139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925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zh-TW" dirty="0"/>
              <a:t>The syntax of do-while statement in C: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altLang="zh-TW" dirty="0"/>
              <a:t>	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endParaRPr lang="en-US" altLang="zh-TW" dirty="0"/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endParaRPr lang="en-US" altLang="zh-TW" dirty="0"/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endParaRPr lang="en-US" altLang="zh-TW" dirty="0"/>
          </a:p>
          <a:p>
            <a:pPr>
              <a:defRPr/>
            </a:pPr>
            <a:r>
              <a:rPr lang="en-US" altLang="zh-TW" dirty="0"/>
              <a:t>The </a:t>
            </a:r>
            <a:r>
              <a:rPr lang="en-US" altLang="zh-TW" i="1" dirty="0"/>
              <a:t>statement</a:t>
            </a:r>
            <a:r>
              <a:rPr lang="en-US" altLang="zh-TW" dirty="0"/>
              <a:t> executed at least one time.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altLang="zh-TW" dirty="0"/>
              <a:t>For second time, If the </a:t>
            </a:r>
            <a:r>
              <a:rPr lang="en-US" altLang="zh-TW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condition</a:t>
            </a:r>
            <a:r>
              <a:rPr lang="en-US" altLang="zh-TW" dirty="0"/>
              <a:t> is true, then the </a:t>
            </a:r>
            <a:r>
              <a:rPr lang="en-US" altLang="zh-TW" i="1" dirty="0"/>
              <a:t>statement</a:t>
            </a:r>
            <a:r>
              <a:rPr lang="en-US" altLang="zh-TW" dirty="0"/>
              <a:t> is repeated else the loop is exited.</a:t>
            </a:r>
          </a:p>
        </p:txBody>
      </p:sp>
      <p:sp>
        <p:nvSpPr>
          <p:cNvPr id="36868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7010400" y="6324600"/>
            <a:ext cx="21336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  <a:defRPr/>
            </a:pPr>
            <a:r>
              <a:rPr lang="en-US">
                <a:latin typeface="Times New Roman" pitchFamily="18" charset="0"/>
              </a:rPr>
              <a:t>5-</a:t>
            </a:r>
            <a:fld id="{1AB6FD41-EE70-4716-B7C6-485E8CD7C57E}" type="slidenum">
              <a:rPr lang="en-US" smtClean="0">
                <a:latin typeface="Times New Roman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14338" algn="l"/>
                  <a:tab pos="828675" algn="l"/>
                  <a:tab pos="1243013" algn="l"/>
                  <a:tab pos="1657350" algn="l"/>
                  <a:tab pos="2073275" algn="l"/>
                  <a:tab pos="2487613" algn="l"/>
                  <a:tab pos="2901950" algn="l"/>
                  <a:tab pos="3316288" algn="l"/>
                  <a:tab pos="3732213" algn="l"/>
                  <a:tab pos="4146550" algn="l"/>
                  <a:tab pos="4560888" algn="l"/>
                  <a:tab pos="4975225" algn="l"/>
                  <a:tab pos="5391150" algn="l"/>
                  <a:tab pos="5805488" algn="l"/>
                  <a:tab pos="6219825" algn="l"/>
                  <a:tab pos="6634163" algn="l"/>
                  <a:tab pos="7050088" algn="l"/>
                  <a:tab pos="7464425" algn="l"/>
                  <a:tab pos="7878763" algn="l"/>
                  <a:tab pos="8293100" algn="l"/>
                </a:tabLst>
                <a:defRPr/>
              </a:pPr>
              <a:t>23</a:t>
            </a:fld>
            <a:endParaRPr lang="en-US">
              <a:latin typeface="Times New Roman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685800" y="2209800"/>
            <a:ext cx="5029200" cy="1905000"/>
            <a:chOff x="914400" y="2057400"/>
            <a:chExt cx="5029200" cy="1905000"/>
          </a:xfrm>
        </p:grpSpPr>
        <p:sp>
          <p:nvSpPr>
            <p:cNvPr id="7" name="Vertical Scroll 6"/>
            <p:cNvSpPr/>
            <p:nvPr/>
          </p:nvSpPr>
          <p:spPr>
            <a:xfrm>
              <a:off x="914400" y="2057400"/>
              <a:ext cx="5029200" cy="1905000"/>
            </a:xfrm>
            <a:prstGeom prst="verticalScroll">
              <a:avLst>
                <a:gd name="adj" fmla="val 18730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defRPr/>
              </a:pPr>
              <a:r>
                <a:rPr lang="en-US" altLang="zh-TW" sz="2000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do</a:t>
              </a:r>
            </a:p>
            <a:p>
              <a:pPr>
                <a:defRPr/>
              </a:pPr>
              <a:r>
                <a:rPr lang="en-US" altLang="zh-TW" sz="2000" dirty="0">
                  <a:solidFill>
                    <a:srgbClr val="C00000"/>
                  </a:solidFill>
                </a:rPr>
                <a:t>     {</a:t>
              </a:r>
              <a:br>
                <a:rPr lang="en-US" altLang="zh-TW" sz="2000" dirty="0">
                  <a:solidFill>
                    <a:srgbClr val="C00000"/>
                  </a:solidFill>
                </a:rPr>
              </a:br>
              <a:r>
                <a:rPr lang="en-US" altLang="zh-TW" sz="2000" dirty="0">
                  <a:solidFill>
                    <a:srgbClr val="C00000"/>
                  </a:solidFill>
                </a:rPr>
                <a:t>        statement;</a:t>
              </a:r>
            </a:p>
            <a:p>
              <a:pPr>
                <a:defRPr/>
              </a:pPr>
              <a:r>
                <a:rPr lang="en-US" altLang="zh-TW" sz="2000" dirty="0">
                  <a:solidFill>
                    <a:srgbClr val="C00000"/>
                  </a:solidFill>
                </a:rPr>
                <a:t>      }</a:t>
              </a:r>
              <a:r>
                <a:rPr lang="en-US" altLang="zh-TW" sz="2000" i="1" dirty="0">
                  <a:solidFill>
                    <a:srgbClr val="C00000"/>
                  </a:solidFill>
                </a:rPr>
                <a:t> </a:t>
              </a:r>
              <a:r>
                <a:rPr lang="en-US" altLang="zh-TW" sz="2000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while</a:t>
              </a:r>
              <a:r>
                <a:rPr lang="en-US" altLang="zh-TW" sz="2000" dirty="0">
                  <a:solidFill>
                    <a:srgbClr val="C00000"/>
                  </a:solidFill>
                </a:rPr>
                <a:t> (</a:t>
              </a:r>
              <a:r>
                <a:rPr lang="en-US" altLang="zh-TW" sz="200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condition</a:t>
              </a:r>
              <a:r>
                <a:rPr lang="en-US" altLang="zh-TW" sz="2000" dirty="0">
                  <a:solidFill>
                    <a:srgbClr val="C00000"/>
                  </a:solidFill>
                </a:rPr>
                <a:t>);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819400" y="2057400"/>
              <a:ext cx="1447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Syntax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2833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147255000"/>
    </mc:Choice>
    <mc:Fallback xmlns="">
      <p:transition spd="slow" advClick="0" advTm="2147255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ChangeArrowheads="1"/>
          </p:cNvSpPr>
          <p:nvPr/>
        </p:nvSpPr>
        <p:spPr bwMode="auto">
          <a:xfrm>
            <a:off x="5334000" y="1600200"/>
            <a:ext cx="3581400" cy="43434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IN"/>
          </a:p>
        </p:txBody>
      </p:sp>
      <p:sp>
        <p:nvSpPr>
          <p:cNvPr id="179205" name="Text Box 5"/>
          <p:cNvSpPr txBox="1">
            <a:spLocks noChangeArrowheads="1"/>
          </p:cNvSpPr>
          <p:nvPr/>
        </p:nvSpPr>
        <p:spPr bwMode="auto">
          <a:xfrm>
            <a:off x="533400" y="1609725"/>
            <a:ext cx="4191000" cy="26574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l" eaLnBrk="0" hangingPunct="0">
              <a:spcBef>
                <a:spcPct val="20000"/>
              </a:spcBef>
            </a:pPr>
            <a:endParaRPr lang="en-US" b="1" dirty="0">
              <a:latin typeface="Courier New" pitchFamily="1" charset="0"/>
            </a:endParaRPr>
          </a:p>
          <a:p>
            <a:pPr algn="l" eaLnBrk="0" hangingPunct="0">
              <a:spcBef>
                <a:spcPct val="20000"/>
              </a:spcBef>
            </a:pPr>
            <a:r>
              <a:rPr lang="en-US" b="1" dirty="0">
                <a:solidFill>
                  <a:srgbClr val="FF0000"/>
                </a:solidFill>
                <a:latin typeface="Courier New" pitchFamily="1" charset="0"/>
              </a:rPr>
              <a:t>do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b="1" dirty="0">
                <a:latin typeface="Courier New" pitchFamily="1" charset="0"/>
              </a:rPr>
              <a:t>{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b="1" dirty="0">
                <a:latin typeface="Courier New" pitchFamily="1" charset="0"/>
              </a:rPr>
              <a:t>  </a:t>
            </a:r>
            <a:r>
              <a:rPr lang="en-US" b="1" dirty="0" err="1">
                <a:latin typeface="Courier New" pitchFamily="1" charset="0"/>
              </a:rPr>
              <a:t>Repeated_Actions</a:t>
            </a:r>
            <a:r>
              <a:rPr lang="en-US" b="1" dirty="0">
                <a:latin typeface="Courier New" pitchFamily="1" charset="0"/>
              </a:rPr>
              <a:t>;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b="1" dirty="0">
                <a:latin typeface="Courier New" pitchFamily="1" charset="0"/>
              </a:rPr>
              <a:t>} </a:t>
            </a:r>
            <a:r>
              <a:rPr lang="en-US" b="1" dirty="0">
                <a:solidFill>
                  <a:srgbClr val="FF0000"/>
                </a:solidFill>
                <a:latin typeface="Courier New" pitchFamily="1" charset="0"/>
              </a:rPr>
              <a:t>while (</a:t>
            </a:r>
            <a:r>
              <a:rPr lang="en-US" b="1" dirty="0">
                <a:latin typeface="Courier New" pitchFamily="1" charset="0"/>
              </a:rPr>
              <a:t>Condition</a:t>
            </a:r>
            <a:r>
              <a:rPr lang="en-US" b="1" dirty="0">
                <a:solidFill>
                  <a:srgbClr val="FF0000"/>
                </a:solidFill>
                <a:latin typeface="Courier New" pitchFamily="1" charset="0"/>
              </a:rPr>
              <a:t>);</a:t>
            </a:r>
          </a:p>
          <a:p>
            <a:pPr algn="l" eaLnBrk="0" hangingPunct="0">
              <a:spcBef>
                <a:spcPct val="20000"/>
              </a:spcBef>
            </a:pPr>
            <a:endParaRPr lang="en-US" dirty="0">
              <a:latin typeface="Courier New" pitchFamily="1" charset="0"/>
            </a:endParaRPr>
          </a:p>
        </p:txBody>
      </p:sp>
      <p:graphicFrame>
        <p:nvGraphicFramePr>
          <p:cNvPr id="179211" name="Object 11"/>
          <p:cNvGraphicFramePr>
            <a:graphicFrameLocks noChangeAspect="1"/>
          </p:cNvGraphicFramePr>
          <p:nvPr/>
        </p:nvGraphicFramePr>
        <p:xfrm>
          <a:off x="5257800" y="1524000"/>
          <a:ext cx="3054350" cy="434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1" name="Visio" r:id="rId3" imgW="1443869" imgH="2095114" progId="">
                  <p:embed/>
                </p:oleObj>
              </mc:Choice>
              <mc:Fallback>
                <p:oleObj name="Visio" r:id="rId3" imgW="1443869" imgH="2095114" progId="">
                  <p:embed/>
                  <p:pic>
                    <p:nvPicPr>
                      <p:cNvPr id="0" name="Picture 1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1524000"/>
                        <a:ext cx="3054350" cy="434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do…while</a:t>
            </a:r>
            <a:r>
              <a:rPr lang="en-US" dirty="0"/>
              <a:t> statement</a:t>
            </a:r>
          </a:p>
        </p:txBody>
      </p:sp>
    </p:spTree>
    <p:extLst>
      <p:ext uri="{BB962C8B-B14F-4D97-AF65-F5344CB8AC3E}">
        <p14:creationId xmlns:p14="http://schemas.microsoft.com/office/powerpoint/2010/main" val="7331399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pitchFamily="1" charset="0"/>
              </a:rPr>
              <a:t>do…while</a:t>
            </a:r>
            <a:r>
              <a:rPr lang="en-US" dirty="0">
                <a:latin typeface="Trebuchet MS" pitchFamily="34" charset="0"/>
              </a:rPr>
              <a:t> </a:t>
            </a:r>
            <a:r>
              <a:rPr lang="en-US" dirty="0"/>
              <a:t>statement</a:t>
            </a:r>
          </a:p>
        </p:txBody>
      </p:sp>
      <p:sp>
        <p:nvSpPr>
          <p:cNvPr id="175113" name="Rectangle 9"/>
          <p:cNvSpPr>
            <a:spLocks noGrp="1" noChangeArrowheads="1"/>
          </p:cNvSpPr>
          <p:nvPr>
            <p:ph idx="1"/>
          </p:nvPr>
        </p:nvSpPr>
        <p:spPr bwMode="auto">
          <a:xfrm>
            <a:off x="457200" y="1295400"/>
            <a:ext cx="8229600" cy="4525963"/>
          </a:xfrm>
          <a:solidFill>
            <a:srgbClr val="FFFFFF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 b="1" dirty="0"/>
              <a:t>Example: </a:t>
            </a:r>
            <a:r>
              <a:rPr lang="en-US" sz="2400" dirty="0"/>
              <a:t>this do…while statement prints numbers 10 down to 1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1600" dirty="0">
              <a:latin typeface="Trebuchet MS" pitchFamily="34" charset="0"/>
            </a:endParaRPr>
          </a:p>
        </p:txBody>
      </p:sp>
      <p:sp>
        <p:nvSpPr>
          <p:cNvPr id="175115" name="Text Box 11"/>
          <p:cNvSpPr txBox="1">
            <a:spLocks noChangeArrowheads="1"/>
          </p:cNvSpPr>
          <p:nvPr/>
        </p:nvSpPr>
        <p:spPr bwMode="auto">
          <a:xfrm>
            <a:off x="0" y="1905000"/>
            <a:ext cx="4572000" cy="402571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US" b="1" dirty="0">
                <a:latin typeface="Courier New" pitchFamily="1" charset="0"/>
              </a:rPr>
              <a:t>#include&lt;stdio.h&gt;</a:t>
            </a:r>
          </a:p>
          <a:p>
            <a:pPr eaLnBrk="0" hangingPunct="0">
              <a:spcBef>
                <a:spcPct val="20000"/>
              </a:spcBef>
            </a:pPr>
            <a:r>
              <a:rPr lang="en-US" b="1" dirty="0">
                <a:latin typeface="Courier New" pitchFamily="1" charset="0"/>
              </a:rPr>
              <a:t>int main()</a:t>
            </a:r>
          </a:p>
          <a:p>
            <a:pPr eaLnBrk="0" hangingPunct="0">
              <a:spcBef>
                <a:spcPct val="20000"/>
              </a:spcBef>
            </a:pPr>
            <a:r>
              <a:rPr lang="en-US" b="1" dirty="0">
                <a:latin typeface="Courier New" pitchFamily="1" charset="0"/>
              </a:rPr>
              <a:t>{</a:t>
            </a:r>
          </a:p>
          <a:p>
            <a:pPr eaLnBrk="0" hangingPunct="0">
              <a:spcBef>
                <a:spcPct val="20000"/>
              </a:spcBef>
            </a:pPr>
            <a:r>
              <a:rPr lang="en-US" b="1" dirty="0">
                <a:latin typeface="Courier New" pitchFamily="1" charset="0"/>
              </a:rPr>
              <a:t> int n=10;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b="1" dirty="0">
                <a:latin typeface="Courier New" pitchFamily="1" charset="0"/>
              </a:rPr>
              <a:t> </a:t>
            </a:r>
            <a:r>
              <a:rPr lang="en-US" b="1" dirty="0">
                <a:effectLst>
                  <a:glow rad="228600">
                    <a:srgbClr val="FFFF00"/>
                  </a:glow>
                </a:effectLst>
                <a:latin typeface="Courier New" pitchFamily="1" charset="0"/>
              </a:rPr>
              <a:t>do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b="1" dirty="0">
                <a:latin typeface="Courier New" pitchFamily="1" charset="0"/>
              </a:rPr>
              <a:t>{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b="1" dirty="0">
                <a:latin typeface="Courier New" pitchFamily="1" charset="0"/>
              </a:rPr>
              <a:t>  printf(“%d ”, n);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b="1" dirty="0">
                <a:latin typeface="Courier New" pitchFamily="1" charset="0"/>
              </a:rPr>
              <a:t>  n=n-1;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b="1" dirty="0">
                <a:latin typeface="Courier New" pitchFamily="1" charset="0"/>
              </a:rPr>
              <a:t> }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b="1" dirty="0">
                <a:effectLst>
                  <a:glow rad="228600">
                    <a:srgbClr val="FFFF00"/>
                  </a:glow>
                </a:effectLst>
                <a:latin typeface="Courier New" pitchFamily="1" charset="0"/>
              </a:rPr>
              <a:t>while (n&gt;0);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b="1" dirty="0">
                <a:latin typeface="Courier New" pitchFamily="1" charset="0"/>
              </a:rPr>
              <a:t>}</a:t>
            </a:r>
          </a:p>
          <a:p>
            <a:pPr algn="l" eaLnBrk="0" hangingPunct="0">
              <a:spcBef>
                <a:spcPct val="20000"/>
              </a:spcBef>
            </a:pPr>
            <a:endParaRPr lang="en-US" dirty="0">
              <a:latin typeface="Courier New" pitchFamily="1" charset="0"/>
            </a:endParaRPr>
          </a:p>
        </p:txBody>
      </p:sp>
      <p:sp>
        <p:nvSpPr>
          <p:cNvPr id="175117" name="Rectangle 13"/>
          <p:cNvSpPr>
            <a:spLocks noChangeArrowheads="1"/>
          </p:cNvSpPr>
          <p:nvPr/>
        </p:nvSpPr>
        <p:spPr bwMode="auto">
          <a:xfrm>
            <a:off x="5562600" y="2819400"/>
            <a:ext cx="3048000" cy="3429000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/>
          </a:p>
        </p:txBody>
      </p:sp>
      <p:graphicFrame>
        <p:nvGraphicFramePr>
          <p:cNvPr id="175118" name="Object 14"/>
          <p:cNvGraphicFramePr>
            <a:graphicFrameLocks noChangeAspect="1"/>
          </p:cNvGraphicFramePr>
          <p:nvPr/>
        </p:nvGraphicFramePr>
        <p:xfrm>
          <a:off x="5334000" y="1676400"/>
          <a:ext cx="3276600" cy="495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5" name="VISIO" r:id="rId3" imgW="1637414" imgH="3390267" progId="">
                  <p:embed/>
                </p:oleObj>
              </mc:Choice>
              <mc:Fallback>
                <p:oleObj name="VISIO" r:id="rId3" imgW="1637414" imgH="3390267" progId="">
                  <p:embed/>
                  <p:pic>
                    <p:nvPicPr>
                      <p:cNvPr id="0" name="Picture 1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1676400"/>
                        <a:ext cx="3276600" cy="495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19" name="Text Box 15"/>
          <p:cNvSpPr txBox="1">
            <a:spLocks noChangeArrowheads="1"/>
          </p:cNvSpPr>
          <p:nvPr/>
        </p:nvSpPr>
        <p:spPr bwMode="auto">
          <a:xfrm>
            <a:off x="0" y="5555159"/>
            <a:ext cx="4572000" cy="40011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10 9 8 7 6 5 4 3 2 1 </a:t>
            </a:r>
          </a:p>
        </p:txBody>
      </p:sp>
    </p:spTree>
    <p:extLst>
      <p:ext uri="{BB962C8B-B14F-4D97-AF65-F5344CB8AC3E}">
        <p14:creationId xmlns:p14="http://schemas.microsoft.com/office/powerpoint/2010/main" val="1545993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19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800" dirty="0"/>
              <a:t>Difference between while and do..while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9931920"/>
              </p:ext>
            </p:extLst>
          </p:nvPr>
        </p:nvGraphicFramePr>
        <p:xfrm>
          <a:off x="457200" y="1600200"/>
          <a:ext cx="8229600" cy="403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while loop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do..while loop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1. Condition is specified at the </a:t>
                      </a:r>
                      <a:r>
                        <a:rPr lang="en-US" b="1" dirty="0"/>
                        <a:t>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 Condition</a:t>
                      </a:r>
                      <a:r>
                        <a:rPr lang="en-US" baseline="0" dirty="0"/>
                        <a:t> is mentioned at the </a:t>
                      </a:r>
                      <a:r>
                        <a:rPr lang="en-US" b="1" baseline="0" dirty="0"/>
                        <a:t>bottom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2. Body statements</a:t>
                      </a:r>
                      <a:r>
                        <a:rPr lang="en-US" baseline="0" dirty="0"/>
                        <a:t> are executed when the condition is satisfied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 Body statements are executed at least once even if the expression value evaluates to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3. It is an </a:t>
                      </a:r>
                      <a:r>
                        <a:rPr lang="en-US" b="1" dirty="0"/>
                        <a:t>entry control</a:t>
                      </a:r>
                      <a:r>
                        <a:rPr lang="en-US" b="1" baseline="0" dirty="0"/>
                        <a:t>led </a:t>
                      </a:r>
                      <a:r>
                        <a:rPr lang="en-US" baseline="0" dirty="0"/>
                        <a:t>loop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 It is an </a:t>
                      </a:r>
                      <a:r>
                        <a:rPr lang="en-US" b="1" dirty="0"/>
                        <a:t>exit controlled</a:t>
                      </a:r>
                      <a:r>
                        <a:rPr lang="en-US" dirty="0"/>
                        <a:t> loop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eaLnBrk="1" fontAlgn="auto" hangingPunct="1"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zh-TW" b="0" dirty="0">
                          <a:latin typeface="Courier New" pitchFamily="49" charset="0"/>
                        </a:rPr>
                        <a:t>4.Syntax:</a:t>
                      </a:r>
                    </a:p>
                    <a:p>
                      <a:pPr eaLnBrk="1" fontAlgn="auto" hangingPunct="1"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zh-TW" b="1" dirty="0">
                          <a:latin typeface="Courier New" pitchFamily="49" charset="0"/>
                        </a:rPr>
                        <a:t>while</a:t>
                      </a:r>
                      <a:r>
                        <a:rPr lang="en-US" altLang="zh-TW" dirty="0"/>
                        <a:t> (</a:t>
                      </a:r>
                      <a:r>
                        <a:rPr lang="en-US" altLang="zh-TW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condition</a:t>
                      </a:r>
                      <a:r>
                        <a:rPr lang="en-US" altLang="zh-TW" dirty="0"/>
                        <a:t>)</a:t>
                      </a:r>
                    </a:p>
                    <a:p>
                      <a:pPr eaLnBrk="1" fontAlgn="auto" hangingPunct="1"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zh-TW" dirty="0"/>
                        <a:t>	</a:t>
                      </a:r>
                      <a:r>
                        <a:rPr lang="en-US" altLang="zh-TW" b="0" i="1" dirty="0">
                          <a:solidFill>
                            <a:schemeClr val="tx1"/>
                          </a:solidFill>
                        </a:rPr>
                        <a:t>statement;</a:t>
                      </a:r>
                      <a:endParaRPr lang="en-US" altLang="zh-TW" b="1" i="1" dirty="0">
                        <a:solidFill>
                          <a:schemeClr val="accent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0" dirty="0">
                          <a:latin typeface="Courier New" pitchFamily="49" charset="0"/>
                        </a:rPr>
                        <a:t>4.Syntax:</a:t>
                      </a:r>
                      <a:endParaRPr lang="en-US" altLang="zh-TW" b="1" dirty="0">
                        <a:latin typeface="Courier New" pitchFamily="49" charset="0"/>
                      </a:endParaRPr>
                    </a:p>
                    <a:p>
                      <a:pPr eaLnBrk="1" fontAlgn="auto" hangingPunct="1"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zh-TW" b="1" dirty="0">
                          <a:latin typeface="Courier New" pitchFamily="49" charset="0"/>
                        </a:rPr>
                        <a:t>do</a:t>
                      </a:r>
                    </a:p>
                    <a:p>
                      <a:pPr eaLnBrk="1" fontAlgn="auto" hangingPunct="1"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zh-TW" b="1" dirty="0">
                          <a:latin typeface="Courier New" pitchFamily="49" charset="0"/>
                        </a:rPr>
                        <a:t>{</a:t>
                      </a:r>
                      <a:br>
                        <a:rPr lang="en-US" altLang="zh-TW" dirty="0">
                          <a:latin typeface="Courier New" pitchFamily="49" charset="0"/>
                        </a:rPr>
                      </a:br>
                      <a:r>
                        <a:rPr lang="en-US" altLang="zh-TW" i="1" dirty="0"/>
                        <a:t>statements;</a:t>
                      </a:r>
                    </a:p>
                    <a:p>
                      <a:pPr eaLnBrk="1" fontAlgn="auto" hangingPunct="1">
                        <a:spcAft>
                          <a:spcPts val="0"/>
                        </a:spcAft>
                        <a:buFontTx/>
                        <a:buNone/>
                        <a:defRPr/>
                      </a:pPr>
                      <a:r>
                        <a:rPr lang="en-US" altLang="zh-TW" b="1" dirty="0"/>
                        <a:t>}</a:t>
                      </a:r>
                      <a:br>
                        <a:rPr lang="en-US" altLang="zh-TW" i="1" dirty="0"/>
                      </a:br>
                      <a:r>
                        <a:rPr lang="en-US" altLang="zh-TW" b="1" dirty="0">
                          <a:latin typeface="Courier New" pitchFamily="49" charset="0"/>
                        </a:rPr>
                        <a:t>while </a:t>
                      </a:r>
                      <a:r>
                        <a:rPr lang="en-US" altLang="zh-TW" dirty="0"/>
                        <a:t>(</a:t>
                      </a:r>
                      <a:r>
                        <a:rPr lang="en-US" altLang="zh-TW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condition</a:t>
                      </a:r>
                      <a:r>
                        <a:rPr lang="en-US" altLang="zh-TW" b="1" dirty="0"/>
                        <a:t>);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00260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Jump statements</a:t>
            </a:r>
          </a:p>
        </p:txBody>
      </p:sp>
      <p:sp>
        <p:nvSpPr>
          <p:cNvPr id="183298" name="Rectangle 2"/>
          <p:cNvSpPr>
            <a:spLocks noGrp="1" noChangeArrowheads="1"/>
          </p:cNvSpPr>
          <p:nvPr>
            <p:ph idx="1"/>
          </p:nvPr>
        </p:nvSpPr>
        <p:spPr bwMode="auto">
          <a:solidFill>
            <a:srgbClr val="FFFFFF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You have learn that, the repetition of a loop is controlled by the loop condition.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C provides another way to control the loop, by using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jump statements. 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There are four jump statements:</a:t>
            </a:r>
          </a:p>
          <a:p>
            <a:pPr>
              <a:lnSpc>
                <a:spcPct val="90000"/>
              </a:lnSpc>
            </a:pPr>
            <a:endParaRPr lang="en-US" sz="2400" dirty="0">
              <a:solidFill>
                <a:schemeClr val="accent2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sz="2400" dirty="0"/>
          </a:p>
          <a:p>
            <a:pPr>
              <a:lnSpc>
                <a:spcPct val="90000"/>
              </a:lnSpc>
              <a:buFontTx/>
              <a:buNone/>
            </a:pPr>
            <a:endParaRPr lang="en-US" sz="2400" dirty="0"/>
          </a:p>
        </p:txBody>
      </p:sp>
      <p:pic>
        <p:nvPicPr>
          <p:cNvPr id="183302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399" y="3962400"/>
            <a:ext cx="8291513" cy="223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8043743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794" y="304800"/>
            <a:ext cx="8229600" cy="1143000"/>
          </a:xfrm>
        </p:spPr>
        <p:txBody>
          <a:bodyPr/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break</a:t>
            </a:r>
            <a:r>
              <a:rPr lang="en-US" dirty="0"/>
              <a:t>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70037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break</a:t>
            </a:r>
            <a:r>
              <a:rPr lang="en-US" dirty="0"/>
              <a:t> is a keyword.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break</a:t>
            </a:r>
            <a:r>
              <a:rPr lang="en-US" dirty="0"/>
              <a:t> allows the  programmer to </a:t>
            </a:r>
            <a:r>
              <a:rPr lang="en-US" b="1" dirty="0"/>
              <a:t>terminate</a:t>
            </a:r>
            <a:r>
              <a:rPr lang="en-US" dirty="0"/>
              <a:t> the loop.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4075" t="11530" r="3960" b="5883"/>
          <a:stretch/>
        </p:blipFill>
        <p:spPr>
          <a:xfrm>
            <a:off x="2895600" y="3124200"/>
            <a:ext cx="5360895" cy="2761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8986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pitchFamily="1" charset="0"/>
              </a:rPr>
              <a:t>break</a:t>
            </a:r>
            <a:r>
              <a:rPr lang="en-US" dirty="0">
                <a:latin typeface="Trebuchet MS" pitchFamily="34" charset="0"/>
              </a:rPr>
              <a:t> </a:t>
            </a:r>
            <a:r>
              <a:rPr lang="en-US" dirty="0">
                <a:latin typeface="+mn-lt"/>
              </a:rPr>
              <a:t>statement</a:t>
            </a:r>
          </a:p>
        </p:txBody>
      </p:sp>
      <p:sp>
        <p:nvSpPr>
          <p:cNvPr id="18534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6400800" y="1600200"/>
            <a:ext cx="2286000" cy="4648200"/>
          </a:xfrm>
          <a:solidFill>
            <a:srgbClr val="FFFFFF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dirty="0"/>
              <a:t>Program to show use of break statement.</a:t>
            </a:r>
          </a:p>
          <a:p>
            <a:pPr marL="0" indent="0">
              <a:spcBef>
                <a:spcPts val="0"/>
              </a:spcBef>
              <a:buFontTx/>
              <a:buNone/>
            </a:pPr>
            <a:endParaRPr lang="en-US" dirty="0"/>
          </a:p>
          <a:p>
            <a:pPr marL="0" indent="0">
              <a:spcBef>
                <a:spcPts val="0"/>
              </a:spcBef>
              <a:buFontTx/>
              <a:buNone/>
            </a:pPr>
            <a:endParaRPr lang="en-US" i="1" dirty="0"/>
          </a:p>
        </p:txBody>
      </p:sp>
      <p:sp>
        <p:nvSpPr>
          <p:cNvPr id="185351" name="Text Box 7"/>
          <p:cNvSpPr txBox="1">
            <a:spLocks noChangeArrowheads="1"/>
          </p:cNvSpPr>
          <p:nvPr/>
        </p:nvSpPr>
        <p:spPr bwMode="auto">
          <a:xfrm>
            <a:off x="0" y="1524000"/>
            <a:ext cx="5943600" cy="403187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#include&lt;stdio.h&gt;</a:t>
            </a:r>
          </a:p>
          <a:p>
            <a:pPr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int main()</a:t>
            </a:r>
          </a:p>
          <a:p>
            <a:pPr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{</a:t>
            </a:r>
          </a:p>
          <a:p>
            <a:pPr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 int n;</a:t>
            </a:r>
          </a:p>
          <a:p>
            <a:pPr>
              <a:lnSpc>
                <a:spcPct val="110000"/>
              </a:lnSpc>
            </a:pPr>
            <a:r>
              <a:rPr lang="en-US" sz="2000" b="1" dirty="0">
                <a:latin typeface="Courier New" pitchFamily="1" charset="0"/>
              </a:rPr>
              <a:t>for (n=10; n&gt;0; n=n-1)</a:t>
            </a:r>
          </a:p>
          <a:p>
            <a:pPr>
              <a:lnSpc>
                <a:spcPct val="110000"/>
              </a:lnSpc>
            </a:pPr>
            <a:r>
              <a:rPr lang="en-US" sz="2000" b="1" dirty="0">
                <a:latin typeface="Courier New" pitchFamily="1" charset="0"/>
              </a:rPr>
              <a:t>{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  </a:t>
            </a:r>
            <a:r>
              <a:rPr lang="en-US" sz="2000" b="1" dirty="0">
                <a:solidFill>
                  <a:schemeClr val="tx1"/>
                </a:solidFill>
                <a:latin typeface="Courier New" pitchFamily="1" charset="0"/>
              </a:rPr>
              <a:t>if (n&lt;8) 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sz="2000" b="1" dirty="0">
                <a:solidFill>
                  <a:schemeClr val="tx1"/>
                </a:solidFill>
                <a:latin typeface="Courier New" pitchFamily="1" charset="0"/>
              </a:rPr>
              <a:t>   </a:t>
            </a:r>
            <a:r>
              <a:rPr lang="en-US" sz="2000" b="1" dirty="0">
                <a:solidFill>
                  <a:schemeClr val="tx1"/>
                </a:solidFill>
                <a:effectLst>
                  <a:glow rad="101600">
                    <a:srgbClr val="FFFF00"/>
                  </a:glow>
                </a:effectLst>
                <a:latin typeface="Courier New" pitchFamily="1" charset="0"/>
              </a:rPr>
              <a:t>break</a:t>
            </a:r>
            <a:r>
              <a:rPr lang="en-US" sz="2000" b="1" dirty="0">
                <a:solidFill>
                  <a:schemeClr val="tx1"/>
                </a:solidFill>
                <a:latin typeface="Courier New" pitchFamily="1" charset="0"/>
              </a:rPr>
              <a:t>;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  printf(“%d ”, n);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 } //end for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}</a:t>
            </a:r>
          </a:p>
        </p:txBody>
      </p:sp>
      <p:sp>
        <p:nvSpPr>
          <p:cNvPr id="185352" name="Text Box 8"/>
          <p:cNvSpPr txBox="1">
            <a:spLocks noChangeArrowheads="1"/>
          </p:cNvSpPr>
          <p:nvPr/>
        </p:nvSpPr>
        <p:spPr bwMode="auto">
          <a:xfrm>
            <a:off x="0" y="5555159"/>
            <a:ext cx="5943600" cy="40011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10 9 8 </a:t>
            </a:r>
          </a:p>
        </p:txBody>
      </p:sp>
    </p:spTree>
    <p:extLst>
      <p:ext uri="{BB962C8B-B14F-4D97-AF65-F5344CB8AC3E}">
        <p14:creationId xmlns:p14="http://schemas.microsoft.com/office/powerpoint/2010/main" val="35859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5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601980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Find the output: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1295400"/>
            <a:ext cx="5181600" cy="3962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62600"/>
            <a:ext cx="9144000" cy="30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663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794" y="304800"/>
            <a:ext cx="8229600" cy="1143000"/>
          </a:xfrm>
        </p:spPr>
        <p:txBody>
          <a:bodyPr/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continue</a:t>
            </a:r>
            <a:r>
              <a:rPr lang="en-US" dirty="0"/>
              <a:t>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794" y="152400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ourier New" pitchFamily="49" charset="0"/>
                <a:cs typeface="Courier New" pitchFamily="49" charset="0"/>
              </a:rPr>
              <a:t>continue</a:t>
            </a:r>
            <a:r>
              <a:rPr lang="en-US" sz="2400" dirty="0"/>
              <a:t> statement is exactly opposite to 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break.</a:t>
            </a:r>
          </a:p>
          <a:p>
            <a:r>
              <a:rPr lang="en-US" sz="2400" dirty="0">
                <a:latin typeface="Courier New" pitchFamily="49" charset="0"/>
                <a:cs typeface="Courier New" pitchFamily="49" charset="0"/>
              </a:rPr>
              <a:t>continue</a:t>
            </a:r>
            <a:r>
              <a:rPr lang="en-US" sz="2400" dirty="0"/>
              <a:t> statement is used for continuing the next iteration of the loop statements</a:t>
            </a:r>
          </a:p>
          <a:p>
            <a:r>
              <a:rPr lang="en-US" sz="2400" dirty="0"/>
              <a:t>When it occurs in the loop, it does not terminate, but skips the statements after this statement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581400"/>
            <a:ext cx="5972175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8978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pitchFamily="1" charset="0"/>
              </a:rPr>
              <a:t>continue</a:t>
            </a:r>
            <a:r>
              <a:rPr lang="en-US" dirty="0">
                <a:latin typeface="Trebuchet MS" pitchFamily="34" charset="0"/>
              </a:rPr>
              <a:t> </a:t>
            </a:r>
            <a:r>
              <a:rPr lang="en-US" dirty="0">
                <a:latin typeface="+mn-lt"/>
              </a:rPr>
              <a:t>statement</a:t>
            </a:r>
          </a:p>
        </p:txBody>
      </p:sp>
      <p:sp>
        <p:nvSpPr>
          <p:cNvPr id="186370" name="Rectangle 2"/>
          <p:cNvSpPr>
            <a:spLocks noGrp="1" noChangeArrowheads="1"/>
          </p:cNvSpPr>
          <p:nvPr>
            <p:ph idx="1"/>
          </p:nvPr>
        </p:nvSpPr>
        <p:spPr bwMode="auto">
          <a:solidFill>
            <a:srgbClr val="FFFFFF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In 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sz="2800" dirty="0"/>
              <a:t> and 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do…while</a:t>
            </a:r>
            <a:r>
              <a:rPr lang="en-US" sz="2800" dirty="0"/>
              <a:t> loops, the continue statement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</a:rPr>
              <a:t> transfers the control to the loop condition.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In 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sz="2800" dirty="0"/>
              <a:t> loop, the continue statement 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</a:rPr>
              <a:t>transfers the control to the updating part.</a:t>
            </a:r>
          </a:p>
          <a:p>
            <a:pPr>
              <a:lnSpc>
                <a:spcPct val="90000"/>
              </a:lnSpc>
            </a:pPr>
            <a:endParaRPr lang="en-US" sz="1800" dirty="0"/>
          </a:p>
        </p:txBody>
      </p:sp>
      <p:pic>
        <p:nvPicPr>
          <p:cNvPr id="18637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3900" y="3398837"/>
            <a:ext cx="7696200" cy="3230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8710640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dirty="0">
                <a:latin typeface="Courier New" pitchFamily="1" charset="0"/>
              </a:rPr>
              <a:t>continue</a:t>
            </a:r>
            <a:r>
              <a:rPr lang="en-US" dirty="0">
                <a:latin typeface="Trebuchet MS" pitchFamily="34" charset="0"/>
              </a:rPr>
              <a:t> </a:t>
            </a:r>
            <a:r>
              <a:rPr lang="en-US" dirty="0"/>
              <a:t>statement</a:t>
            </a:r>
          </a:p>
        </p:txBody>
      </p:sp>
      <p:sp>
        <p:nvSpPr>
          <p:cNvPr id="188418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6400800" y="1600200"/>
            <a:ext cx="2286000" cy="4525963"/>
          </a:xfrm>
          <a:solidFill>
            <a:srgbClr val="FFFFFF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spcBef>
                <a:spcPts val="0"/>
              </a:spcBef>
              <a:buFontTx/>
              <a:buNone/>
            </a:pPr>
            <a:r>
              <a:rPr lang="en-US" sz="2800" dirty="0"/>
              <a:t>Program to show the use of continue statement in for loop</a:t>
            </a:r>
          </a:p>
          <a:p>
            <a:pPr marL="0" indent="0">
              <a:spcBef>
                <a:spcPts val="0"/>
              </a:spcBef>
              <a:buFontTx/>
              <a:buNone/>
            </a:pPr>
            <a:endParaRPr lang="en-US" sz="2800" dirty="0"/>
          </a:p>
        </p:txBody>
      </p:sp>
      <p:sp>
        <p:nvSpPr>
          <p:cNvPr id="188420" name="Text Box 4"/>
          <p:cNvSpPr txBox="1">
            <a:spLocks noChangeArrowheads="1"/>
          </p:cNvSpPr>
          <p:nvPr/>
        </p:nvSpPr>
        <p:spPr bwMode="auto">
          <a:xfrm>
            <a:off x="0" y="1562100"/>
            <a:ext cx="6400800" cy="446276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#include&lt;stdio.h&gt;</a:t>
            </a:r>
          </a:p>
          <a:p>
            <a:pPr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int main()</a:t>
            </a:r>
          </a:p>
          <a:p>
            <a:pPr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{</a:t>
            </a:r>
          </a:p>
          <a:p>
            <a:pPr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 int n;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 for (n=10; n&gt;0; n=n-1){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  </a:t>
            </a:r>
            <a:r>
              <a:rPr lang="en-US" sz="2000" b="1" dirty="0">
                <a:solidFill>
                  <a:schemeClr val="tx1"/>
                </a:solidFill>
                <a:latin typeface="Courier New" pitchFamily="1" charset="0"/>
              </a:rPr>
              <a:t>if (n%2==1) 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sz="2000" b="1" dirty="0">
                <a:solidFill>
                  <a:schemeClr val="tx1"/>
                </a:solidFill>
                <a:latin typeface="Courier New" pitchFamily="1" charset="0"/>
              </a:rPr>
              <a:t>     </a:t>
            </a:r>
            <a:r>
              <a:rPr lang="en-US" sz="2000" b="1" dirty="0">
                <a:solidFill>
                  <a:schemeClr val="tx1"/>
                </a:solidFill>
                <a:effectLst>
                  <a:glow rad="228600">
                    <a:srgbClr val="FFFF00"/>
                  </a:glow>
                </a:effectLst>
                <a:latin typeface="Courier New" pitchFamily="1" charset="0"/>
              </a:rPr>
              <a:t>continue</a:t>
            </a:r>
            <a:r>
              <a:rPr lang="en-US" sz="2000" b="1" dirty="0">
                <a:solidFill>
                  <a:schemeClr val="tx1"/>
                </a:solidFill>
                <a:latin typeface="Courier New" pitchFamily="1" charset="0"/>
              </a:rPr>
              <a:t>;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sz="2000" b="1" dirty="0">
                <a:solidFill>
                  <a:schemeClr val="tx1"/>
                </a:solidFill>
                <a:latin typeface="Courier New" pitchFamily="1" charset="0"/>
              </a:rPr>
              <a:t>   printf(“%d ”, n);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 }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}</a:t>
            </a:r>
          </a:p>
          <a:p>
            <a:pPr algn="l" eaLnBrk="0" hangingPunct="0">
              <a:spcBef>
                <a:spcPct val="20000"/>
              </a:spcBef>
            </a:pPr>
            <a:endParaRPr lang="en-US" sz="2000" b="1" dirty="0">
              <a:latin typeface="Courier New" pitchFamily="1" charset="0"/>
            </a:endParaRPr>
          </a:p>
          <a:p>
            <a:pPr algn="l" eaLnBrk="0" hangingPunct="0">
              <a:spcBef>
                <a:spcPct val="20000"/>
              </a:spcBef>
            </a:pPr>
            <a:endParaRPr lang="en-US" sz="2000" b="1" dirty="0">
              <a:latin typeface="Courier New" pitchFamily="1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0" y="5859959"/>
            <a:ext cx="6400800" cy="40011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10 8 6 4 2 </a:t>
            </a:r>
          </a:p>
        </p:txBody>
      </p:sp>
    </p:spTree>
    <p:extLst>
      <p:ext uri="{BB962C8B-B14F-4D97-AF65-F5344CB8AC3E}">
        <p14:creationId xmlns:p14="http://schemas.microsoft.com/office/powerpoint/2010/main" val="3066527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4" name="Text Box 4"/>
          <p:cNvSpPr txBox="1">
            <a:spLocks noChangeArrowheads="1"/>
          </p:cNvSpPr>
          <p:nvPr/>
        </p:nvSpPr>
        <p:spPr bwMode="auto">
          <a:xfrm>
            <a:off x="0" y="1598235"/>
            <a:ext cx="6400800" cy="409342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#include&lt;stdio.h&gt;</a:t>
            </a:r>
          </a:p>
          <a:p>
            <a:pPr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int main()</a:t>
            </a:r>
          </a:p>
          <a:p>
            <a:pPr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{</a:t>
            </a:r>
          </a:p>
          <a:p>
            <a:pPr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 int n = 10; 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 while(n&gt;0){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  </a:t>
            </a:r>
            <a:r>
              <a:rPr lang="en-US" sz="2000" b="1" dirty="0">
                <a:solidFill>
                  <a:schemeClr val="tx1"/>
                </a:solidFill>
                <a:latin typeface="Courier New" pitchFamily="1" charset="0"/>
              </a:rPr>
              <a:t>printf(“%d”, n);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sz="2000" b="1" dirty="0">
                <a:solidFill>
                  <a:schemeClr val="tx1"/>
                </a:solidFill>
                <a:latin typeface="Courier New" pitchFamily="1" charset="0"/>
              </a:rPr>
              <a:t>  if (n%2==1) 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sz="2000" b="1" dirty="0">
                <a:solidFill>
                  <a:schemeClr val="tx1"/>
                </a:solidFill>
                <a:latin typeface="Courier New" pitchFamily="1" charset="0"/>
              </a:rPr>
              <a:t>    continue;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sz="2000" b="1" dirty="0">
                <a:solidFill>
                  <a:schemeClr val="tx1"/>
                </a:solidFill>
                <a:latin typeface="Courier New" pitchFamily="1" charset="0"/>
              </a:rPr>
              <a:t>  n = n –1;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 }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}</a:t>
            </a:r>
          </a:p>
        </p:txBody>
      </p:sp>
      <p:sp>
        <p:nvSpPr>
          <p:cNvPr id="189445" name="Text Box 5"/>
          <p:cNvSpPr txBox="1">
            <a:spLocks noChangeArrowheads="1"/>
          </p:cNvSpPr>
          <p:nvPr/>
        </p:nvSpPr>
        <p:spPr bwMode="auto">
          <a:xfrm>
            <a:off x="0" y="5859959"/>
            <a:ext cx="6400800" cy="40011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10 9 9 9 9 9 …………</a:t>
            </a:r>
          </a:p>
        </p:txBody>
      </p:sp>
      <p:sp>
        <p:nvSpPr>
          <p:cNvPr id="189446" name="Rectangle 6"/>
          <p:cNvSpPr>
            <a:spLocks noChangeArrowheads="1"/>
          </p:cNvSpPr>
          <p:nvPr/>
        </p:nvSpPr>
        <p:spPr bwMode="auto">
          <a:xfrm>
            <a:off x="6858000" y="5715000"/>
            <a:ext cx="2133600" cy="99060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/>
          <a:lstStyle/>
          <a:p>
            <a:pPr algn="just"/>
            <a:r>
              <a:rPr lang="en-US" sz="1500" b="1" dirty="0">
                <a:solidFill>
                  <a:srgbClr val="FF0000"/>
                </a:solidFill>
              </a:rPr>
              <a:t>The loop then prints number 9 over and over again. It never stops.</a:t>
            </a:r>
          </a:p>
        </p:txBody>
      </p:sp>
      <p:sp>
        <p:nvSpPr>
          <p:cNvPr id="8" name="Title 5"/>
          <p:cNvSpPr txBox="1">
            <a:spLocks/>
          </p:cNvSpPr>
          <p:nvPr/>
        </p:nvSpPr>
        <p:spPr>
          <a:xfrm>
            <a:off x="457200" y="3048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1" charset="0"/>
                <a:ea typeface="+mj-ea"/>
                <a:cs typeface="+mj-cs"/>
              </a:rPr>
              <a:t>continue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rebuchet MS" pitchFamily="34" charset="0"/>
                <a:ea typeface="+mj-ea"/>
                <a:cs typeface="+mj-cs"/>
              </a:rPr>
              <a:t>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statement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6400800" y="1600200"/>
            <a:ext cx="2362200" cy="4525963"/>
          </a:xfrm>
        </p:spPr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n-US" sz="2800" dirty="0">
                <a:solidFill>
                  <a:srgbClr val="0F6FC6"/>
                </a:solidFill>
              </a:rPr>
              <a:t>Program to show the use of continue statement in for loop</a:t>
            </a:r>
          </a:p>
        </p:txBody>
      </p:sp>
      <p:cxnSp>
        <p:nvCxnSpPr>
          <p:cNvPr id="10" name="Straight Arrow Connector 9"/>
          <p:cNvCxnSpPr>
            <a:stCxn id="189446" idx="1"/>
            <a:endCxn id="189445" idx="3"/>
          </p:cNvCxnSpPr>
          <p:nvPr/>
        </p:nvCxnSpPr>
        <p:spPr>
          <a:xfrm rot="10800000">
            <a:off x="6400800" y="6060014"/>
            <a:ext cx="457200" cy="15028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1" name="Group 20"/>
          <p:cNvGrpSpPr/>
          <p:nvPr/>
        </p:nvGrpSpPr>
        <p:grpSpPr>
          <a:xfrm>
            <a:off x="1676400" y="3200400"/>
            <a:ext cx="1638300" cy="1143000"/>
            <a:chOff x="1676400" y="3200400"/>
            <a:chExt cx="1638300" cy="1143000"/>
          </a:xfrm>
        </p:grpSpPr>
        <p:cxnSp>
          <p:nvCxnSpPr>
            <p:cNvPr id="3" name="Elbow Connector 2"/>
            <p:cNvCxnSpPr/>
            <p:nvPr/>
          </p:nvCxnSpPr>
          <p:spPr>
            <a:xfrm rot="5400000" flipH="1" flipV="1">
              <a:off x="2228850" y="3257550"/>
              <a:ext cx="1143000" cy="1028700"/>
            </a:xfrm>
            <a:prstGeom prst="bentConnector3">
              <a:avLst>
                <a:gd name="adj1" fmla="val 1045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flipH="1">
              <a:off x="1676400" y="3200400"/>
              <a:ext cx="1638300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" name="TextBox 21"/>
          <p:cNvSpPr txBox="1"/>
          <p:nvPr/>
        </p:nvSpPr>
        <p:spPr>
          <a:xfrm>
            <a:off x="3429000" y="3644949"/>
            <a:ext cx="28764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For n=9, loop goes to infinite</a:t>
            </a:r>
          </a:p>
          <a:p>
            <a:r>
              <a:rPr lang="en-US" dirty="0">
                <a:solidFill>
                  <a:srgbClr val="FF0000"/>
                </a:solidFill>
              </a:rPr>
              <a:t>execution </a:t>
            </a:r>
          </a:p>
        </p:txBody>
      </p:sp>
    </p:spTree>
    <p:extLst>
      <p:ext uri="{BB962C8B-B14F-4D97-AF65-F5344CB8AC3E}">
        <p14:creationId xmlns:p14="http://schemas.microsoft.com/office/powerpoint/2010/main" val="1738529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5" grpId="0" animBg="1"/>
      <p:bldP spid="18944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Goto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Unconditionally transfer control.</a:t>
            </a:r>
            <a:endParaRPr lang="en-US" sz="2400" dirty="0"/>
          </a:p>
          <a:p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goto</a:t>
            </a:r>
            <a:r>
              <a:rPr lang="en-US" sz="2400" dirty="0"/>
              <a:t> may be used for transferring control from one place to another. </a:t>
            </a:r>
          </a:p>
          <a:p>
            <a:r>
              <a:rPr lang="en-US" sz="2400" dirty="0"/>
              <a:t>The syntax is: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goto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i="1" dirty="0"/>
              <a:t>identifier</a:t>
            </a:r>
            <a:r>
              <a:rPr lang="en-US" sz="2400" dirty="0"/>
              <a:t>;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0" y="2628900"/>
            <a:ext cx="3343275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3745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1" name="Rectangle 3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Courier New" pitchFamily="1" charset="0"/>
              </a:rPr>
              <a:t>goto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rebuchet MS" pitchFamily="34" charset="0"/>
              </a:rPr>
              <a:t> statement</a:t>
            </a:r>
          </a:p>
        </p:txBody>
      </p:sp>
      <p:sp>
        <p:nvSpPr>
          <p:cNvPr id="191492" name="Text Box 4"/>
          <p:cNvSpPr txBox="1">
            <a:spLocks noChangeArrowheads="1"/>
          </p:cNvSpPr>
          <p:nvPr/>
        </p:nvSpPr>
        <p:spPr bwMode="auto">
          <a:xfrm>
            <a:off x="4800600" y="1828800"/>
            <a:ext cx="4191000" cy="240681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l" eaLnBrk="0" hangingPunct="0">
              <a:spcBef>
                <a:spcPct val="20000"/>
              </a:spcBef>
            </a:pPr>
            <a:r>
              <a:rPr lang="en-US" sz="1600" b="1" dirty="0">
                <a:latin typeface="Courier New" pitchFamily="1" charset="0"/>
              </a:rPr>
              <a:t> n=10;</a:t>
            </a:r>
          </a:p>
          <a:p>
            <a:pPr algn="l" eaLnBrk="0" hangingPunct="0">
              <a:spcBef>
                <a:spcPct val="20000"/>
              </a:spcBef>
            </a:pPr>
            <a:endParaRPr lang="en-US" sz="1600" b="1" dirty="0">
              <a:solidFill>
                <a:srgbClr val="FF0000"/>
              </a:solidFill>
              <a:latin typeface="Courier New" pitchFamily="1" charset="0"/>
            </a:endParaRPr>
          </a:p>
          <a:p>
            <a:pPr algn="l" eaLnBrk="0" hangingPunct="0">
              <a:spcBef>
                <a:spcPct val="20000"/>
              </a:spcBef>
            </a:pPr>
            <a:r>
              <a:rPr lang="en-US" sz="1600" b="1" dirty="0">
                <a:solidFill>
                  <a:srgbClr val="FF0000"/>
                </a:solidFill>
                <a:latin typeface="Courier New" pitchFamily="1" charset="0"/>
              </a:rPr>
              <a:t>A: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sz="1600" b="1" dirty="0">
                <a:latin typeface="Courier New" pitchFamily="1" charset="0"/>
              </a:rPr>
              <a:t>   </a:t>
            </a:r>
            <a:r>
              <a:rPr lang="en-US" sz="1600" b="1" dirty="0" err="1">
                <a:latin typeface="Courier New" pitchFamily="1" charset="0"/>
              </a:rPr>
              <a:t>printf</a:t>
            </a:r>
            <a:r>
              <a:rPr lang="en-US" sz="1600" b="1" dirty="0">
                <a:latin typeface="Courier New" pitchFamily="1" charset="0"/>
              </a:rPr>
              <a:t>(“%d “, n);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sz="1600" b="1" dirty="0">
                <a:latin typeface="Courier New" pitchFamily="1" charset="0"/>
              </a:rPr>
              <a:t>   n = n -1;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sz="1600" b="1" dirty="0">
                <a:latin typeface="Courier New" pitchFamily="1" charset="0"/>
              </a:rPr>
              <a:t> 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sz="1600" b="1" dirty="0">
                <a:latin typeface="Courier New" pitchFamily="1" charset="0"/>
              </a:rPr>
              <a:t>   if (n&gt;0)</a:t>
            </a:r>
          </a:p>
          <a:p>
            <a:pPr algn="l" eaLnBrk="0" hangingPunct="0">
              <a:spcBef>
                <a:spcPct val="20000"/>
              </a:spcBef>
            </a:pPr>
            <a:r>
              <a:rPr lang="en-US" sz="1600" b="1" dirty="0">
                <a:latin typeface="Courier New" pitchFamily="1" charset="0"/>
              </a:rPr>
              <a:t>	 </a:t>
            </a:r>
            <a:r>
              <a:rPr lang="en-US" sz="1600" b="1" dirty="0" err="1">
                <a:solidFill>
                  <a:srgbClr val="FF0000"/>
                </a:solidFill>
                <a:latin typeface="Courier New" pitchFamily="1" charset="0"/>
              </a:rPr>
              <a:t>goto</a:t>
            </a:r>
            <a:r>
              <a:rPr lang="en-US" sz="1600" b="1" dirty="0">
                <a:solidFill>
                  <a:srgbClr val="FF0000"/>
                </a:solidFill>
                <a:latin typeface="Courier New" pitchFamily="1" charset="0"/>
              </a:rPr>
              <a:t> A;</a:t>
            </a:r>
          </a:p>
        </p:txBody>
      </p:sp>
      <p:sp>
        <p:nvSpPr>
          <p:cNvPr id="191493" name="Text Box 5"/>
          <p:cNvSpPr txBox="1">
            <a:spLocks noChangeArrowheads="1"/>
          </p:cNvSpPr>
          <p:nvPr/>
        </p:nvSpPr>
        <p:spPr bwMode="auto">
          <a:xfrm>
            <a:off x="4953000" y="4648200"/>
            <a:ext cx="4038600" cy="11366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Output:</a:t>
            </a:r>
          </a:p>
          <a:p>
            <a:pPr algn="l" eaLnBrk="0" hangingPunct="0">
              <a:spcBef>
                <a:spcPct val="20000"/>
              </a:spcBef>
            </a:pPr>
            <a:endParaRPr lang="en-US" sz="2000" b="1" dirty="0">
              <a:latin typeface="Courier New" pitchFamily="1" charset="0"/>
            </a:endParaRPr>
          </a:p>
          <a:p>
            <a:pPr algn="l" eaLnBrk="0" hangingPunct="0">
              <a:spcBef>
                <a:spcPct val="20000"/>
              </a:spcBef>
            </a:pPr>
            <a:r>
              <a:rPr lang="en-US" sz="2000" b="1" dirty="0">
                <a:latin typeface="Courier New" pitchFamily="1" charset="0"/>
              </a:rPr>
              <a:t>10 9 8 7 6 5 4 3 2 1</a:t>
            </a:r>
          </a:p>
        </p:txBody>
      </p:sp>
      <p:sp>
        <p:nvSpPr>
          <p:cNvPr id="191503" name="Rectangle 15"/>
          <p:cNvSpPr>
            <a:spLocks noChangeArrowheads="1"/>
          </p:cNvSpPr>
          <p:nvPr/>
        </p:nvSpPr>
        <p:spPr bwMode="auto">
          <a:xfrm>
            <a:off x="533400" y="2057400"/>
            <a:ext cx="3962400" cy="441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IN"/>
          </a:p>
        </p:txBody>
      </p:sp>
      <p:graphicFrame>
        <p:nvGraphicFramePr>
          <p:cNvPr id="191505" name="Object 17"/>
          <p:cNvGraphicFramePr>
            <a:graphicFrameLocks noChangeAspect="1"/>
          </p:cNvGraphicFramePr>
          <p:nvPr/>
        </p:nvGraphicFramePr>
        <p:xfrm>
          <a:off x="990600" y="1752600"/>
          <a:ext cx="3375025" cy="449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0" name="VISIO" r:id="rId3" imgW="2442450" imgH="3839872" progId="">
                  <p:embed/>
                </p:oleObj>
              </mc:Choice>
              <mc:Fallback>
                <p:oleObj name="VISIO" r:id="rId3" imgW="2442450" imgH="3839872" progId="">
                  <p:embed/>
                  <p:pic>
                    <p:nvPicPr>
                      <p:cNvPr id="0" name="Picture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752600"/>
                        <a:ext cx="3375025" cy="449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1506" name="Freeform 18"/>
          <p:cNvSpPr>
            <a:spLocks/>
          </p:cNvSpPr>
          <p:nvPr/>
        </p:nvSpPr>
        <p:spPr bwMode="auto">
          <a:xfrm>
            <a:off x="4038600" y="4114800"/>
            <a:ext cx="2209800" cy="1066800"/>
          </a:xfrm>
          <a:custGeom>
            <a:avLst/>
            <a:gdLst/>
            <a:ahLst/>
            <a:cxnLst>
              <a:cxn ang="0">
                <a:pos x="0" y="816"/>
              </a:cxn>
              <a:cxn ang="0">
                <a:pos x="192" y="480"/>
              </a:cxn>
              <a:cxn ang="0">
                <a:pos x="672" y="336"/>
              </a:cxn>
              <a:cxn ang="0">
                <a:pos x="1440" y="288"/>
              </a:cxn>
              <a:cxn ang="0">
                <a:pos x="1680" y="0"/>
              </a:cxn>
            </a:cxnLst>
            <a:rect l="0" t="0" r="r" b="b"/>
            <a:pathLst>
              <a:path w="1680" h="816">
                <a:moveTo>
                  <a:pt x="0" y="816"/>
                </a:moveTo>
                <a:cubicBezTo>
                  <a:pt x="40" y="688"/>
                  <a:pt x="80" y="560"/>
                  <a:pt x="192" y="480"/>
                </a:cubicBezTo>
                <a:cubicBezTo>
                  <a:pt x="304" y="400"/>
                  <a:pt x="464" y="368"/>
                  <a:pt x="672" y="336"/>
                </a:cubicBezTo>
                <a:cubicBezTo>
                  <a:pt x="880" y="304"/>
                  <a:pt x="1272" y="344"/>
                  <a:pt x="1440" y="288"/>
                </a:cubicBezTo>
                <a:cubicBezTo>
                  <a:pt x="1608" y="232"/>
                  <a:pt x="1644" y="116"/>
                  <a:pt x="1680" y="0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191507" name="Freeform 19"/>
          <p:cNvSpPr>
            <a:spLocks/>
          </p:cNvSpPr>
          <p:nvPr/>
        </p:nvSpPr>
        <p:spPr bwMode="auto">
          <a:xfrm>
            <a:off x="965200" y="2082800"/>
            <a:ext cx="3835400" cy="1041400"/>
          </a:xfrm>
          <a:custGeom>
            <a:avLst/>
            <a:gdLst/>
            <a:ahLst/>
            <a:cxnLst>
              <a:cxn ang="0">
                <a:pos x="112" y="656"/>
              </a:cxn>
              <a:cxn ang="0">
                <a:pos x="208" y="128"/>
              </a:cxn>
              <a:cxn ang="0">
                <a:pos x="1360" y="32"/>
              </a:cxn>
              <a:cxn ang="0">
                <a:pos x="2416" y="320"/>
              </a:cxn>
            </a:cxnLst>
            <a:rect l="0" t="0" r="r" b="b"/>
            <a:pathLst>
              <a:path w="2416" h="656">
                <a:moveTo>
                  <a:pt x="112" y="656"/>
                </a:moveTo>
                <a:cubicBezTo>
                  <a:pt x="56" y="444"/>
                  <a:pt x="0" y="232"/>
                  <a:pt x="208" y="128"/>
                </a:cubicBezTo>
                <a:cubicBezTo>
                  <a:pt x="416" y="24"/>
                  <a:pt x="992" y="0"/>
                  <a:pt x="1360" y="32"/>
                </a:cubicBezTo>
                <a:cubicBezTo>
                  <a:pt x="1728" y="64"/>
                  <a:pt x="2072" y="192"/>
                  <a:pt x="2416" y="320"/>
                </a:cubicBezTo>
              </a:path>
            </a:pathLst>
          </a:custGeom>
          <a:noFill/>
          <a:ln w="25400" cap="flat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902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3" grpId="0" animBg="1"/>
      <p:bldP spid="191506" grpId="0" animBg="1"/>
      <p:bldP spid="19150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0" y="685800"/>
            <a:ext cx="2310594" cy="4495800"/>
          </a:xfrm>
        </p:spPr>
        <p:txBody>
          <a:bodyPr anchor="t">
            <a:normAutofit/>
          </a:bodyPr>
          <a:lstStyle/>
          <a:p>
            <a:pPr algn="l"/>
            <a:r>
              <a:rPr lang="en-US" sz="3200" dirty="0">
                <a:solidFill>
                  <a:schemeClr val="accent1"/>
                </a:solidFill>
                <a:latin typeface="+mn-lt"/>
              </a:rPr>
              <a:t>Program to show </a:t>
            </a:r>
            <a:r>
              <a:rPr lang="en-US" sz="3200" dirty="0" err="1">
                <a:solidFill>
                  <a:schemeClr val="accent1"/>
                </a:solidFill>
                <a:latin typeface="+mn-lt"/>
              </a:rPr>
              <a:t>goto</a:t>
            </a:r>
            <a:r>
              <a:rPr lang="en-US" sz="3200" dirty="0">
                <a:solidFill>
                  <a:schemeClr val="accent1"/>
                </a:solidFill>
                <a:latin typeface="+mn-lt"/>
              </a:rPr>
              <a:t> statement.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6400800" cy="449580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#include&lt;stdio.h&gt;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int x;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printf(“enter a number: ”); 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scanf(“%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d”,&amp;x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if(x%2==0)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</a:t>
            </a:r>
            <a:r>
              <a:rPr lang="en-US" sz="2200" b="1" dirty="0" err="1">
                <a:solidFill>
                  <a:schemeClr val="tx1"/>
                </a:solidFill>
                <a:effectLst>
                  <a:glow rad="228600">
                    <a:srgbClr val="FFFF00"/>
                  </a:glow>
                </a:effectLst>
                <a:latin typeface="Courier New" pitchFamily="1" charset="0"/>
              </a:rPr>
              <a:t>goto</a:t>
            </a:r>
            <a:r>
              <a:rPr lang="en-US" sz="2200" b="1" dirty="0">
                <a:solidFill>
                  <a:schemeClr val="tx1"/>
                </a:solidFill>
                <a:effectLst>
                  <a:glow rad="228600">
                    <a:srgbClr val="FFFF00"/>
                  </a:glow>
                </a:effectLst>
                <a:latin typeface="Courier New" pitchFamily="1" charset="0"/>
              </a:rPr>
              <a:t> even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else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200" b="1" dirty="0" err="1">
                <a:solidFill>
                  <a:schemeClr val="tx1"/>
                </a:solidFill>
                <a:effectLst>
                  <a:glow rad="228600">
                    <a:srgbClr val="FFFF00"/>
                  </a:glow>
                </a:effectLst>
                <a:latin typeface="Courier New" pitchFamily="1" charset="0"/>
              </a:rPr>
              <a:t>goto</a:t>
            </a:r>
            <a:r>
              <a:rPr lang="en-US" sz="2200" b="1" dirty="0">
                <a:solidFill>
                  <a:schemeClr val="tx1"/>
                </a:solidFill>
                <a:effectLst>
                  <a:glow rad="228600">
                    <a:srgbClr val="FFFF00"/>
                  </a:glow>
                </a:effectLst>
                <a:latin typeface="Courier New" pitchFamily="1" charset="0"/>
              </a:rPr>
              <a:t> odd;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dirty="0">
                <a:solidFill>
                  <a:schemeClr val="tx1"/>
                </a:solidFill>
                <a:effectLst>
                  <a:glow rad="228600">
                    <a:srgbClr val="FFFF00"/>
                  </a:glow>
                </a:effectLst>
                <a:latin typeface="Courier New" pitchFamily="1" charset="0"/>
              </a:rPr>
              <a:t>even: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printf(“ %d is even”, x);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return;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200" b="1" dirty="0">
                <a:solidFill>
                  <a:schemeClr val="tx1"/>
                </a:solidFill>
                <a:effectLst>
                  <a:glow rad="228600">
                    <a:srgbClr val="FFFF00"/>
                  </a:glow>
                </a:effectLst>
                <a:latin typeface="Courier New" pitchFamily="1" charset="0"/>
              </a:rPr>
              <a:t>odd: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printf(“%d is odd”, x);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562600"/>
            <a:ext cx="640080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enter a number: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18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18 is even</a:t>
            </a:r>
          </a:p>
        </p:txBody>
      </p:sp>
    </p:spTree>
    <p:extLst>
      <p:ext uri="{BB962C8B-B14F-4D97-AF65-F5344CB8AC3E}">
        <p14:creationId xmlns:p14="http://schemas.microsoft.com/office/powerpoint/2010/main" val="1947474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dirty="0"/>
              <a:t> statement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US" b="1" dirty="0"/>
              <a:t>Exits the function.</a:t>
            </a:r>
            <a:endParaRPr lang="en-US" dirty="0"/>
          </a:p>
          <a:p>
            <a:r>
              <a:rPr lang="en-IN" dirty="0"/>
              <a:t>The return value could be any valid expression that returns a value:</a:t>
            </a:r>
          </a:p>
          <a:p>
            <a:pPr marL="0" indent="0">
              <a:buNone/>
            </a:pPr>
            <a:r>
              <a:rPr lang="en-IN" dirty="0"/>
              <a:t>i</a:t>
            </a:r>
            <a:r>
              <a:rPr lang="en-IN"/>
              <a:t>.  a </a:t>
            </a:r>
            <a:r>
              <a:rPr lang="en-IN" dirty="0"/>
              <a:t>constant</a:t>
            </a:r>
          </a:p>
          <a:p>
            <a:pPr marL="0" indent="0">
              <a:buNone/>
            </a:pPr>
            <a:r>
              <a:rPr lang="en-IN" dirty="0"/>
              <a:t>ii. a variable</a:t>
            </a:r>
          </a:p>
          <a:p>
            <a:pPr marL="0" indent="0">
              <a:buNone/>
            </a:pPr>
            <a:r>
              <a:rPr lang="en-IN" dirty="0"/>
              <a:t>iii. a calculation, for instance (a + b) * c </a:t>
            </a:r>
          </a:p>
          <a:p>
            <a:pPr marL="0" indent="0">
              <a:buNone/>
            </a:pPr>
            <a:r>
              <a:rPr lang="en-IN" dirty="0"/>
              <a:t>iv.  call to another function that returns a value</a:t>
            </a:r>
          </a:p>
          <a:p>
            <a:pPr algn="just"/>
            <a:r>
              <a:rPr lang="en-US" dirty="0"/>
              <a:t>The syntax is:</a:t>
            </a:r>
          </a:p>
          <a:p>
            <a:pPr marL="0" indent="0" algn="just">
              <a:buNone/>
            </a:pPr>
            <a:r>
              <a:rPr lang="en-US" dirty="0"/>
              <a:t> 		return [</a:t>
            </a:r>
            <a:r>
              <a:rPr lang="en-US" i="1" dirty="0"/>
              <a:t>expression</a:t>
            </a:r>
            <a:r>
              <a:rPr lang="en-US" dirty="0"/>
              <a:t>]; </a:t>
            </a:r>
          </a:p>
          <a:p>
            <a:pPr marL="0" indent="0" algn="just">
              <a:buNone/>
            </a:pPr>
            <a:r>
              <a:rPr lang="en-US" dirty="0"/>
              <a:t>For example,</a:t>
            </a:r>
          </a:p>
          <a:p>
            <a:pPr marL="0" indent="0" algn="just">
              <a:buNone/>
            </a:pPr>
            <a:r>
              <a:rPr lang="en-US" dirty="0"/>
              <a:t>    	int </a:t>
            </a:r>
            <a:r>
              <a:rPr lang="en-US" dirty="0" err="1"/>
              <a:t>sqr</a:t>
            </a:r>
            <a:r>
              <a:rPr lang="en-US" dirty="0"/>
              <a:t> (int x){</a:t>
            </a:r>
          </a:p>
          <a:p>
            <a:pPr marL="0" indent="0" algn="just">
              <a:buNone/>
            </a:pPr>
            <a:r>
              <a:rPr lang="en-US" dirty="0"/>
              <a:t>	      return (x*x);</a:t>
            </a:r>
          </a:p>
          <a:p>
            <a:pPr marL="0" indent="0" algn="just">
              <a:buNone/>
            </a:pPr>
            <a:r>
              <a:rPr lang="en-US" dirty="0"/>
              <a:t>	 }</a:t>
            </a:r>
          </a:p>
        </p:txBody>
      </p:sp>
    </p:spTree>
    <p:extLst>
      <p:ext uri="{BB962C8B-B14F-4D97-AF65-F5344CB8AC3E}">
        <p14:creationId xmlns:p14="http://schemas.microsoft.com/office/powerpoint/2010/main" val="42875080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4114800"/>
            <a:ext cx="8686800" cy="16002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Next Class: Formatted and Unformatted Input / Output functions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u theme final with copyright">
  <a:themeElements>
    <a:clrScheme name="Custom 1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009DD9"/>
      </a:accent4>
      <a:accent5>
        <a:srgbClr val="009DD9"/>
      </a:accent5>
      <a:accent6>
        <a:srgbClr val="009DD9"/>
      </a:accent6>
      <a:hlink>
        <a:srgbClr val="009DD9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FINAL LPU THEME</Template>
  <TotalTime>3902</TotalTime>
  <Words>1991</Words>
  <Application>Microsoft Office PowerPoint</Application>
  <PresentationFormat>On-screen Show (4:3)</PresentationFormat>
  <Paragraphs>380</Paragraphs>
  <Slides>39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52" baseType="lpstr">
      <vt:lpstr>Arial</vt:lpstr>
      <vt:lpstr>Arial Black</vt:lpstr>
      <vt:lpstr>Arial Rounded MT Bold</vt:lpstr>
      <vt:lpstr>AvantGarde</vt:lpstr>
      <vt:lpstr>Bradley Hand ITC</vt:lpstr>
      <vt:lpstr>Calibri</vt:lpstr>
      <vt:lpstr>Courier New</vt:lpstr>
      <vt:lpstr>Times New Roman</vt:lpstr>
      <vt:lpstr>Trebuchet MS</vt:lpstr>
      <vt:lpstr>Wingdings</vt:lpstr>
      <vt:lpstr>Lpu theme final with copyright</vt:lpstr>
      <vt:lpstr>Visio</vt:lpstr>
      <vt:lpstr>VISIO</vt:lpstr>
      <vt:lpstr>PowerPoint Presentation</vt:lpstr>
      <vt:lpstr>Outline</vt:lpstr>
      <vt:lpstr>Difference between if-else and switch</vt:lpstr>
      <vt:lpstr>Repetition(Going to School)</vt:lpstr>
      <vt:lpstr>Repetition Statement</vt:lpstr>
      <vt:lpstr>Looping (repetition)</vt:lpstr>
      <vt:lpstr>Loop </vt:lpstr>
      <vt:lpstr>PowerPoint Presentation</vt:lpstr>
      <vt:lpstr>Loop </vt:lpstr>
      <vt:lpstr>Loop statements</vt:lpstr>
      <vt:lpstr>The “while” Statement in C</vt:lpstr>
      <vt:lpstr>while statement</vt:lpstr>
      <vt:lpstr>PowerPoint Presentation</vt:lpstr>
      <vt:lpstr>while statement</vt:lpstr>
      <vt:lpstr>The for Statement in C</vt:lpstr>
      <vt:lpstr>for statement</vt:lpstr>
      <vt:lpstr>for statement</vt:lpstr>
      <vt:lpstr>PowerPoint Presentation</vt:lpstr>
      <vt:lpstr>Nested Loops</vt:lpstr>
      <vt:lpstr>Program to print tables up to a given number.</vt:lpstr>
      <vt:lpstr>Program to display a pattern.</vt:lpstr>
      <vt:lpstr>While vs. for statements</vt:lpstr>
      <vt:lpstr>The do-while Statement in C</vt:lpstr>
      <vt:lpstr>do…while statement</vt:lpstr>
      <vt:lpstr>do…while statement</vt:lpstr>
      <vt:lpstr>Difference between while and do..while</vt:lpstr>
      <vt:lpstr>Jump statements</vt:lpstr>
      <vt:lpstr>break statement</vt:lpstr>
      <vt:lpstr>break statement</vt:lpstr>
      <vt:lpstr>PowerPoint Presentation</vt:lpstr>
      <vt:lpstr>continue statement</vt:lpstr>
      <vt:lpstr>continue statement</vt:lpstr>
      <vt:lpstr>continue statement</vt:lpstr>
      <vt:lpstr>PowerPoint Presentation</vt:lpstr>
      <vt:lpstr>Goto statement</vt:lpstr>
      <vt:lpstr>goto statement</vt:lpstr>
      <vt:lpstr>Program to show goto statement.</vt:lpstr>
      <vt:lpstr>return statement</vt:lpstr>
      <vt:lpstr>Next Class: Formatted and Unformatted Input / Output functions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Aman</dc:creator>
  <cp:lastModifiedBy>HP</cp:lastModifiedBy>
  <cp:revision>144</cp:revision>
  <dcterms:created xsi:type="dcterms:W3CDTF">2013-08-21T06:36:47Z</dcterms:created>
  <dcterms:modified xsi:type="dcterms:W3CDTF">2019-09-03T17:04:05Z</dcterms:modified>
</cp:coreProperties>
</file>